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6" r:id="rId2"/>
    <p:sldId id="265" r:id="rId3"/>
    <p:sldId id="342" r:id="rId4"/>
    <p:sldId id="365" r:id="rId5"/>
    <p:sldId id="275" r:id="rId6"/>
    <p:sldId id="366" r:id="rId7"/>
    <p:sldId id="367" r:id="rId8"/>
    <p:sldId id="369" r:id="rId9"/>
    <p:sldId id="368" r:id="rId10"/>
    <p:sldId id="323" r:id="rId11"/>
    <p:sldId id="360" r:id="rId12"/>
    <p:sldId id="370" r:id="rId13"/>
    <p:sldId id="356" r:id="rId14"/>
    <p:sldId id="357" r:id="rId15"/>
    <p:sldId id="371" r:id="rId16"/>
    <p:sldId id="372" r:id="rId17"/>
    <p:sldId id="373" r:id="rId18"/>
    <p:sldId id="361" r:id="rId19"/>
    <p:sldId id="358" r:id="rId20"/>
    <p:sldId id="374" r:id="rId21"/>
    <p:sldId id="362" r:id="rId22"/>
    <p:sldId id="375" r:id="rId23"/>
    <p:sldId id="363" r:id="rId24"/>
    <p:sldId id="376" r:id="rId25"/>
    <p:sldId id="364" r:id="rId26"/>
    <p:sldId id="377" r:id="rId27"/>
    <p:sldId id="381" r:id="rId28"/>
    <p:sldId id="378" r:id="rId29"/>
    <p:sldId id="379" r:id="rId30"/>
    <p:sldId id="380" r:id="rId3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8" pos="3839">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94" autoAdjust="0"/>
  </p:normalViewPr>
  <p:slideViewPr>
    <p:cSldViewPr showGuides="1">
      <p:cViewPr>
        <p:scale>
          <a:sx n="100" d="100"/>
          <a:sy n="100" d="100"/>
        </p:scale>
        <p:origin x="556" y="-332"/>
      </p:cViewPr>
      <p:guideLst>
        <p:guide orient="horz" pos="2160"/>
        <p:guide pos="3839"/>
      </p:guideLst>
    </p:cSldViewPr>
  </p:slideViewPr>
  <p:notesTextViewPr>
    <p:cViewPr>
      <p:scale>
        <a:sx n="1" d="1"/>
        <a:sy n="1" d="1"/>
      </p:scale>
      <p:origin x="0" y="0"/>
    </p:cViewPr>
  </p:notesTextViewPr>
  <p:sorterViewPr>
    <p:cViewPr>
      <p:scale>
        <a:sx n="51" d="100"/>
        <a:sy n="51" d="100"/>
      </p:scale>
      <p:origin x="0" y="-744"/>
    </p:cViewPr>
  </p:sorter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4/27/2016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‹N°›</a:t>
            </a:fld>
            <a:endParaRPr/>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4/27/2016</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‹N°›</a:t>
            </a:fld>
            <a:endParaRPr/>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a:t>1</a:t>
            </a:fld>
            <a:endParaRPr lang="en-US"/>
          </a:p>
        </p:txBody>
      </p:sp>
    </p:spTree>
    <p:extLst>
      <p:ext uri="{BB962C8B-B14F-4D97-AF65-F5344CB8AC3E}">
        <p14:creationId xmlns:p14="http://schemas.microsoft.com/office/powerpoint/2010/main" val="2833741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6BB98AFB-CB0D-4DFE-87B9-B4B0D0DE73CD}" type="slidenum">
              <a:rPr lang="fr-CA" smtClean="0"/>
              <a:t>2</a:t>
            </a:fld>
            <a:endParaRPr lang="fr-CA"/>
          </a:p>
        </p:txBody>
      </p:sp>
    </p:spTree>
    <p:extLst>
      <p:ext uri="{BB962C8B-B14F-4D97-AF65-F5344CB8AC3E}">
        <p14:creationId xmlns:p14="http://schemas.microsoft.com/office/powerpoint/2010/main" val="56884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B98AFB-CB0D-4DFE-87B9-B4B0D0DE73CD}" type="slidenum">
              <a:rPr lang="fr-CA" smtClean="0"/>
              <a:t>3</a:t>
            </a:fld>
            <a:endParaRPr lang="fr-CA"/>
          </a:p>
        </p:txBody>
      </p:sp>
    </p:spTree>
    <p:extLst>
      <p:ext uri="{BB962C8B-B14F-4D97-AF65-F5344CB8AC3E}">
        <p14:creationId xmlns:p14="http://schemas.microsoft.com/office/powerpoint/2010/main" val="1853959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B98AFB-CB0D-4DFE-87B9-B4B0D0DE73CD}" type="slidenum">
              <a:rPr lang="fr-CA" smtClean="0"/>
              <a:t>5</a:t>
            </a:fld>
            <a:endParaRPr lang="fr-CA"/>
          </a:p>
        </p:txBody>
      </p:sp>
    </p:spTree>
    <p:extLst>
      <p:ext uri="{BB962C8B-B14F-4D97-AF65-F5344CB8AC3E}">
        <p14:creationId xmlns:p14="http://schemas.microsoft.com/office/powerpoint/2010/main" val="11936600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6BB98AFB-CB0D-4DFE-87B9-B4B0D0DE73CD}" type="slidenum">
              <a:rPr lang="fr-CA" smtClean="0"/>
              <a:t>6</a:t>
            </a:fld>
            <a:endParaRPr lang="fr-CA"/>
          </a:p>
        </p:txBody>
      </p:sp>
    </p:spTree>
    <p:extLst>
      <p:ext uri="{BB962C8B-B14F-4D97-AF65-F5344CB8AC3E}">
        <p14:creationId xmlns:p14="http://schemas.microsoft.com/office/powerpoint/2010/main" val="178484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6BB98AFB-CB0D-4DFE-87B9-B4B0D0DE73CD}" type="slidenum">
              <a:rPr lang="fr-CA" smtClean="0"/>
              <a:t>7</a:t>
            </a:fld>
            <a:endParaRPr lang="fr-CA"/>
          </a:p>
        </p:txBody>
      </p:sp>
    </p:spTree>
    <p:extLst>
      <p:ext uri="{BB962C8B-B14F-4D97-AF65-F5344CB8AC3E}">
        <p14:creationId xmlns:p14="http://schemas.microsoft.com/office/powerpoint/2010/main" val="2366338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6BB98AFB-CB0D-4DFE-87B9-B4B0D0DE73CD}" type="slidenum">
              <a:rPr lang="fr-CA" smtClean="0"/>
              <a:t>9</a:t>
            </a:fld>
            <a:endParaRPr lang="fr-CA"/>
          </a:p>
        </p:txBody>
      </p:sp>
    </p:spTree>
    <p:extLst>
      <p:ext uri="{BB962C8B-B14F-4D97-AF65-F5344CB8AC3E}">
        <p14:creationId xmlns:p14="http://schemas.microsoft.com/office/powerpoint/2010/main" val="1242975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B98AFB-CB0D-4DFE-87B9-B4B0D0DE73CD}" type="slidenum">
              <a:rPr lang="fr-CA" smtClean="0"/>
              <a:t>11</a:t>
            </a:fld>
            <a:endParaRPr lang="fr-CA"/>
          </a:p>
        </p:txBody>
      </p:sp>
    </p:spTree>
    <p:extLst>
      <p:ext uri="{BB962C8B-B14F-4D97-AF65-F5344CB8AC3E}">
        <p14:creationId xmlns:p14="http://schemas.microsoft.com/office/powerpoint/2010/main" val="1852205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B98AFB-CB0D-4DFE-87B9-B4B0D0DE73CD}" type="slidenum">
              <a:rPr lang="fr-CA" smtClean="0"/>
              <a:t>18</a:t>
            </a:fld>
            <a:endParaRPr lang="fr-CA"/>
          </a:p>
        </p:txBody>
      </p:sp>
    </p:spTree>
    <p:extLst>
      <p:ext uri="{BB962C8B-B14F-4D97-AF65-F5344CB8AC3E}">
        <p14:creationId xmlns:p14="http://schemas.microsoft.com/office/powerpoint/2010/main" val="38150581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B98AFB-CB0D-4DFE-87B9-B4B0D0DE73CD}" type="slidenum">
              <a:rPr lang="fr-CA" smtClean="0"/>
              <a:t>21</a:t>
            </a:fld>
            <a:endParaRPr lang="fr-CA"/>
          </a:p>
        </p:txBody>
      </p:sp>
    </p:spTree>
    <p:extLst>
      <p:ext uri="{BB962C8B-B14F-4D97-AF65-F5344CB8AC3E}">
        <p14:creationId xmlns:p14="http://schemas.microsoft.com/office/powerpoint/2010/main" val="3703312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BB98AFB-CB0D-4DFE-87B9-B4B0D0DE73CD}" type="slidenum">
              <a:rPr lang="fr-CA" smtClean="0"/>
              <a:t>23</a:t>
            </a:fld>
            <a:endParaRPr lang="fr-CA"/>
          </a:p>
        </p:txBody>
      </p:sp>
    </p:spTree>
    <p:extLst>
      <p:ext uri="{BB962C8B-B14F-4D97-AF65-F5344CB8AC3E}">
        <p14:creationId xmlns:p14="http://schemas.microsoft.com/office/powerpoint/2010/main" val="1456250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6BB98AFB-CB0D-4DFE-87B9-B4B0D0DE73CD}" type="slidenum">
              <a:rPr lang="fr-CA" smtClean="0"/>
              <a:t>27</a:t>
            </a:fld>
            <a:endParaRPr lang="fr-CA"/>
          </a:p>
        </p:txBody>
      </p:sp>
    </p:spTree>
    <p:extLst>
      <p:ext uri="{BB962C8B-B14F-4D97-AF65-F5344CB8AC3E}">
        <p14:creationId xmlns:p14="http://schemas.microsoft.com/office/powerpoint/2010/main" val="5688448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214" y="533400"/>
            <a:ext cx="5029200" cy="2514601"/>
          </a:xfrm>
        </p:spPr>
        <p:txBody>
          <a:bodyPr>
            <a:normAutofit/>
          </a:bodyPr>
          <a:lstStyle>
            <a:lvl1pPr>
              <a:defRPr sz="5400"/>
            </a:lvl1pPr>
          </a:lstStyle>
          <a:p>
            <a:r>
              <a:rPr/>
              <a:t>Click to edit Master title style</a:t>
            </a:r>
          </a:p>
        </p:txBody>
      </p:sp>
      <p:sp>
        <p:nvSpPr>
          <p:cNvPr id="3" name="Subtitle 2"/>
          <p:cNvSpPr>
            <a:spLocks noGrp="1"/>
          </p:cNvSpPr>
          <p:nvPr>
            <p:ph type="subTitle" idx="1"/>
          </p:nvPr>
        </p:nvSpPr>
        <p:spPr>
          <a:xfrm>
            <a:off x="1065212" y="3403600"/>
            <a:ext cx="5029201" cy="1397000"/>
          </a:xfrm>
        </p:spPr>
        <p:txBody>
          <a:bodyPr>
            <a:normAutofit/>
          </a:bodyPr>
          <a:lstStyle>
            <a:lvl1pPr marL="0" indent="0" algn="l">
              <a:spcBef>
                <a:spcPts val="600"/>
              </a:spcBef>
              <a:buNone/>
              <a:defRPr sz="24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a:t>Click to edit Master subtitle style</a:t>
            </a:r>
          </a:p>
        </p:txBody>
      </p:sp>
      <p:sp>
        <p:nvSpPr>
          <p:cNvPr id="4" name="Date Placeholder 3"/>
          <p:cNvSpPr>
            <a:spLocks noGrp="1"/>
          </p:cNvSpPr>
          <p:nvPr>
            <p:ph type="dt" sz="half" idx="10"/>
          </p:nvPr>
        </p:nvSpPr>
        <p:spPr>
          <a:xfrm>
            <a:off x="6932612" y="6155267"/>
            <a:ext cx="1371600" cy="273049"/>
          </a:xfrm>
          <a:prstGeom prst="rect">
            <a:avLst/>
          </a:prstGeom>
        </p:spPr>
        <p:txBody>
          <a:bodyPr/>
          <a:lstStyle/>
          <a:p>
            <a:fld id="{3E0FA9E5-6744-4841-888F-9E7CC0C2B7EC}" type="datetimeFigureOut">
              <a:rPr lang="en-US"/>
              <a:t>4/27/2016</a:t>
            </a:fld>
            <a:endParaRPr/>
          </a:p>
        </p:txBody>
      </p:sp>
      <p:sp>
        <p:nvSpPr>
          <p:cNvPr id="5" name="Footer Placeholder 4"/>
          <p:cNvSpPr>
            <a:spLocks noGrp="1"/>
          </p:cNvSpPr>
          <p:nvPr>
            <p:ph type="ftr" sz="quarter" idx="11"/>
          </p:nvPr>
        </p:nvSpPr>
        <p:spPr/>
        <p:txBody>
          <a:bodyPr/>
          <a:lstStyle/>
          <a:p>
            <a:r>
              <a:rPr lang="en-CA" dirty="0" smtClean="0"/>
              <a:t>Copyright © 2015  Alain Abran </a:t>
            </a:r>
          </a:p>
        </p:txBody>
      </p:sp>
      <p:sp>
        <p:nvSpPr>
          <p:cNvPr id="6" name="Slide Number Placeholder 5"/>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664752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Footer Placeholder 4"/>
          <p:cNvSpPr>
            <a:spLocks noGrp="1"/>
          </p:cNvSpPr>
          <p:nvPr>
            <p:ph type="ftr" sz="quarter" idx="11"/>
          </p:nvPr>
        </p:nvSpPr>
        <p:spPr/>
        <p:txBody>
          <a:bodyPr/>
          <a:lstStyle/>
          <a:p>
            <a:r>
              <a:rPr lang="en-CA" dirty="0" smtClean="0"/>
              <a:t>Copyright © 2015  Alain Abran </a:t>
            </a:r>
            <a:endParaRPr lang="en-CA" dirty="0"/>
          </a:p>
        </p:txBody>
      </p:sp>
      <p:sp>
        <p:nvSpPr>
          <p:cNvPr id="6" name="Slide Number Placeholder 5"/>
          <p:cNvSpPr>
            <a:spLocks noGrp="1"/>
          </p:cNvSpPr>
          <p:nvPr>
            <p:ph type="sldNum" sz="quarter" idx="12"/>
          </p:nvPr>
        </p:nvSpPr>
        <p:spPr/>
        <p:txBody>
          <a:bodyPr/>
          <a:lstStyle/>
          <a:p>
            <a:fld id="{AAEAE4A8-A6E5-453E-B946-FB774B73F48C}" type="slidenum">
              <a:rPr/>
              <a:t>‹N°›</a:t>
            </a:fld>
            <a:endParaRPr dirty="0"/>
          </a:p>
        </p:txBody>
      </p:sp>
    </p:spTree>
    <p:extLst>
      <p:ext uri="{BB962C8B-B14F-4D97-AF65-F5344CB8AC3E}">
        <p14:creationId xmlns:p14="http://schemas.microsoft.com/office/powerpoint/2010/main" val="2429153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4" y="533400"/>
            <a:ext cx="8686800" cy="2286000"/>
          </a:xfrm>
        </p:spPr>
        <p:txBody>
          <a:bodyPr anchor="b">
            <a:normAutofit/>
          </a:bodyPr>
          <a:lstStyle>
            <a:lvl1pPr algn="l">
              <a:defRPr sz="5400" b="1" cap="none" baseline="0"/>
            </a:lvl1pPr>
          </a:lstStyle>
          <a:p>
            <a:r>
              <a:rPr/>
              <a:t>Click to edit Master title style</a:t>
            </a:r>
          </a:p>
        </p:txBody>
      </p:sp>
      <p:sp>
        <p:nvSpPr>
          <p:cNvPr id="3" name="Text Placeholder 2"/>
          <p:cNvSpPr>
            <a:spLocks noGrp="1"/>
          </p:cNvSpPr>
          <p:nvPr>
            <p:ph type="body" idx="1"/>
          </p:nvPr>
        </p:nvSpPr>
        <p:spPr>
          <a:xfrm>
            <a:off x="1065214" y="3124200"/>
            <a:ext cx="8686800" cy="1371600"/>
          </a:xfrm>
        </p:spPr>
        <p:txBody>
          <a:bodyPr anchor="t">
            <a:normAutofit/>
          </a:bodyPr>
          <a:lstStyle>
            <a:lvl1pPr marL="0" indent="0">
              <a:spcBef>
                <a:spcPts val="600"/>
              </a:spcBef>
              <a:buNone/>
              <a:defRPr sz="24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a:xfrm>
            <a:off x="6932612" y="6155267"/>
            <a:ext cx="1371600" cy="273049"/>
          </a:xfrm>
          <a:prstGeom prst="rect">
            <a:avLst/>
          </a:prstGeom>
        </p:spPr>
        <p:txBody>
          <a:bodyPr/>
          <a:lstStyle/>
          <a:p>
            <a:fld id="{3E0FA9E5-6744-4841-888F-9E7CC0C2B7EC}" type="datetimeFigureOut">
              <a:rPr lang="en-US"/>
              <a:t>4/27/2016</a:t>
            </a:fld>
            <a:endParaRPr/>
          </a:p>
        </p:txBody>
      </p:sp>
      <p:sp>
        <p:nvSpPr>
          <p:cNvPr id="5" name="Footer Placeholder 4"/>
          <p:cNvSpPr>
            <a:spLocks noGrp="1"/>
          </p:cNvSpPr>
          <p:nvPr>
            <p:ph type="ftr" sz="quarter" idx="11"/>
          </p:nvPr>
        </p:nvSpPr>
        <p:spPr/>
        <p:txBody>
          <a:bodyPr/>
          <a:lstStyle/>
          <a:p>
            <a:r>
              <a:rPr lang="en-CA" dirty="0" smtClean="0"/>
              <a:t>Copyright © 2015  Alain Abran </a:t>
            </a:r>
            <a:endParaRPr lang="en-CA" dirty="0"/>
          </a:p>
        </p:txBody>
      </p:sp>
      <p:sp>
        <p:nvSpPr>
          <p:cNvPr id="6" name="Slide Number Placeholder 5"/>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370133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sz="half" idx="1"/>
          </p:nvPr>
        </p:nvSpPr>
        <p:spPr>
          <a:xfrm>
            <a:off x="1065212" y="1828800"/>
            <a:ext cx="4251960"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Content Placeholder 3"/>
          <p:cNvSpPr>
            <a:spLocks noGrp="1"/>
          </p:cNvSpPr>
          <p:nvPr>
            <p:ph sz="half" idx="2"/>
          </p:nvPr>
        </p:nvSpPr>
        <p:spPr>
          <a:xfrm>
            <a:off x="5464598" y="1828800"/>
            <a:ext cx="4251960"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11"/>
          </p:nvPr>
        </p:nvSpPr>
        <p:spPr/>
        <p:txBody>
          <a:bodyPr/>
          <a:lstStyle/>
          <a:p>
            <a:r>
              <a:rPr lang="en-CA" dirty="0" smtClean="0"/>
              <a:t>Copyright © 2015  Alain Abran </a:t>
            </a:r>
            <a:endParaRPr lang="en-CA" dirty="0"/>
          </a:p>
        </p:txBody>
      </p:sp>
      <p:sp>
        <p:nvSpPr>
          <p:cNvPr id="7" name="Slide Number Placeholder 6"/>
          <p:cNvSpPr>
            <a:spLocks noGrp="1"/>
          </p:cNvSpPr>
          <p:nvPr>
            <p:ph type="sldNum" sz="quarter" idx="12"/>
          </p:nvPr>
        </p:nvSpPr>
        <p:spPr/>
        <p:txBody>
          <a:bodyPr/>
          <a:lstStyle/>
          <a:p>
            <a:fld id="{AAEAE4A8-A6E5-453E-B946-FB774B73F48C}" type="slidenum">
              <a:rPr/>
              <a:t>‹N°›</a:t>
            </a:fld>
            <a:endParaRPr dirty="0"/>
          </a:p>
        </p:txBody>
      </p:sp>
    </p:spTree>
    <p:extLst>
      <p:ext uri="{BB962C8B-B14F-4D97-AF65-F5344CB8AC3E}">
        <p14:creationId xmlns:p14="http://schemas.microsoft.com/office/powerpoint/2010/main" val="341370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a:t>Click to edit Master title style</a:t>
            </a:r>
          </a:p>
        </p:txBody>
      </p:sp>
      <p:sp>
        <p:nvSpPr>
          <p:cNvPr id="3" name="Text Placeholder 2"/>
          <p:cNvSpPr>
            <a:spLocks noGrp="1"/>
          </p:cNvSpPr>
          <p:nvPr>
            <p:ph type="body" idx="1"/>
          </p:nvPr>
        </p:nvSpPr>
        <p:spPr>
          <a:xfrm>
            <a:off x="1065213" y="1828799"/>
            <a:ext cx="4251960"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4" name="Content Placeholder 3"/>
          <p:cNvSpPr>
            <a:spLocks noGrp="1"/>
          </p:cNvSpPr>
          <p:nvPr>
            <p:ph sz="half" idx="2"/>
          </p:nvPr>
        </p:nvSpPr>
        <p:spPr>
          <a:xfrm>
            <a:off x="1065213" y="2590800"/>
            <a:ext cx="4251960"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Text Placeholder 4"/>
          <p:cNvSpPr>
            <a:spLocks noGrp="1"/>
          </p:cNvSpPr>
          <p:nvPr>
            <p:ph type="body" sz="quarter" idx="3"/>
          </p:nvPr>
        </p:nvSpPr>
        <p:spPr>
          <a:xfrm>
            <a:off x="5500053" y="1828799"/>
            <a:ext cx="4251960"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6" name="Content Placeholder 5"/>
          <p:cNvSpPr>
            <a:spLocks noGrp="1"/>
          </p:cNvSpPr>
          <p:nvPr>
            <p:ph sz="quarter" idx="4"/>
          </p:nvPr>
        </p:nvSpPr>
        <p:spPr>
          <a:xfrm>
            <a:off x="5500053" y="2590800"/>
            <a:ext cx="4251960"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8" name="Footer Placeholder 7"/>
          <p:cNvSpPr>
            <a:spLocks noGrp="1"/>
          </p:cNvSpPr>
          <p:nvPr>
            <p:ph type="ftr" sz="quarter" idx="11"/>
          </p:nvPr>
        </p:nvSpPr>
        <p:spPr/>
        <p:txBody>
          <a:bodyPr/>
          <a:lstStyle/>
          <a:p>
            <a:r>
              <a:rPr lang="en-CA" dirty="0" smtClean="0"/>
              <a:t>Copyright © 2015  Alain Abran </a:t>
            </a:r>
          </a:p>
        </p:txBody>
      </p:sp>
      <p:sp>
        <p:nvSpPr>
          <p:cNvPr id="9" name="Slide Number Placeholder 8"/>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20007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4" name="Footer Placeholder 3"/>
          <p:cNvSpPr>
            <a:spLocks noGrp="1"/>
          </p:cNvSpPr>
          <p:nvPr>
            <p:ph type="ftr" sz="quarter" idx="11"/>
          </p:nvPr>
        </p:nvSpPr>
        <p:spPr/>
        <p:txBody>
          <a:bodyPr/>
          <a:lstStyle/>
          <a:p>
            <a:r>
              <a:rPr lang="en-CA" dirty="0" smtClean="0"/>
              <a:t>Copyright © 2015  Alain Abran </a:t>
            </a:r>
            <a:endParaRPr lang="en-CA" dirty="0"/>
          </a:p>
        </p:txBody>
      </p:sp>
      <p:sp>
        <p:nvSpPr>
          <p:cNvPr id="5" name="Slide Number Placeholder 4"/>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90715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CA" dirty="0" smtClean="0"/>
              <a:t>Copyright © 2015  Alain Abran </a:t>
            </a:r>
          </a:p>
        </p:txBody>
      </p:sp>
      <p:sp>
        <p:nvSpPr>
          <p:cNvPr id="4" name="Slide Number Placeholder 3"/>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2441531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3" y="533400"/>
            <a:ext cx="4114800" cy="1524000"/>
          </a:xfrm>
        </p:spPr>
        <p:txBody>
          <a:bodyPr anchor="b">
            <a:normAutofit/>
          </a:bodyPr>
          <a:lstStyle>
            <a:lvl1pPr algn="l">
              <a:defRPr sz="3600" b="1"/>
            </a:lvl1pPr>
          </a:lstStyle>
          <a:p>
            <a:r>
              <a:rPr/>
              <a:t>Click to edit Master title style</a:t>
            </a:r>
          </a:p>
        </p:txBody>
      </p:sp>
      <p:sp>
        <p:nvSpPr>
          <p:cNvPr id="3" name="Content Placeholder 2"/>
          <p:cNvSpPr>
            <a:spLocks noGrp="1"/>
          </p:cNvSpPr>
          <p:nvPr>
            <p:ph idx="1"/>
          </p:nvPr>
        </p:nvSpPr>
        <p:spPr>
          <a:xfrm>
            <a:off x="5865813" y="533400"/>
            <a:ext cx="586740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Text Placeholder 3"/>
          <p:cNvSpPr>
            <a:spLocks noGrp="1"/>
          </p:cNvSpPr>
          <p:nvPr>
            <p:ph type="body" sz="half" idx="2"/>
          </p:nvPr>
        </p:nvSpPr>
        <p:spPr>
          <a:xfrm>
            <a:off x="1065213" y="2209800"/>
            <a:ext cx="4114800" cy="3810000"/>
          </a:xfrm>
        </p:spPr>
        <p:txBody>
          <a:bodyPr>
            <a:normAutofit/>
          </a:bodyPr>
          <a:lstStyle>
            <a:lvl1pPr marL="0" indent="0">
              <a:lnSpc>
                <a:spcPct val="110000"/>
              </a:lnSpc>
              <a:spcBef>
                <a:spcPts val="600"/>
              </a:spcBef>
              <a:buNone/>
              <a:defRPr sz="18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a:t>Click to edit Master text styles</a:t>
            </a:r>
          </a:p>
        </p:txBody>
      </p:sp>
      <p:sp>
        <p:nvSpPr>
          <p:cNvPr id="5" name="Date Placeholder 4"/>
          <p:cNvSpPr>
            <a:spLocks noGrp="1"/>
          </p:cNvSpPr>
          <p:nvPr>
            <p:ph type="dt" sz="half" idx="10"/>
          </p:nvPr>
        </p:nvSpPr>
        <p:spPr>
          <a:xfrm>
            <a:off x="6932612" y="6155267"/>
            <a:ext cx="1371600" cy="273049"/>
          </a:xfrm>
          <a:prstGeom prst="rect">
            <a:avLst/>
          </a:prstGeom>
        </p:spPr>
        <p:txBody>
          <a:bodyPr/>
          <a:lstStyle/>
          <a:p>
            <a:fld id="{3E0FA9E5-6744-4841-888F-9E7CC0C2B7EC}" type="datetimeFigureOut">
              <a:rPr lang="en-US"/>
              <a:t>4/27/2016</a:t>
            </a:fld>
            <a:endParaRPr/>
          </a:p>
        </p:txBody>
      </p:sp>
      <p:sp>
        <p:nvSpPr>
          <p:cNvPr id="6" name="Footer Placeholder 5"/>
          <p:cNvSpPr>
            <a:spLocks noGrp="1"/>
          </p:cNvSpPr>
          <p:nvPr>
            <p:ph type="ftr" sz="quarter" idx="11"/>
          </p:nvPr>
        </p:nvSpPr>
        <p:spPr/>
        <p:txBody>
          <a:bodyPr/>
          <a:lstStyle/>
          <a:p>
            <a:r>
              <a:rPr lang="en-CA" dirty="0" smtClean="0"/>
              <a:t>Copyright © 2015  Alain Abran </a:t>
            </a:r>
            <a:endParaRPr lang="en-CA" dirty="0"/>
          </a:p>
        </p:txBody>
      </p:sp>
      <p:sp>
        <p:nvSpPr>
          <p:cNvPr id="7" name="Slide Number Placeholder 6"/>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2101711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65213" y="533400"/>
            <a:ext cx="4114800" cy="1524000"/>
          </a:xfrm>
        </p:spPr>
        <p:txBody>
          <a:bodyPr anchor="b">
            <a:noAutofit/>
          </a:bodyPr>
          <a:lstStyle>
            <a:lvl1pPr algn="l">
              <a:defRPr sz="3600" b="1"/>
            </a:lvl1pPr>
          </a:lstStyle>
          <a:p>
            <a:r>
              <a:rPr/>
              <a:t>Click to edit Master title style</a:t>
            </a:r>
          </a:p>
        </p:txBody>
      </p:sp>
      <p:sp>
        <p:nvSpPr>
          <p:cNvPr id="3" name="Picture Placeholder 2"/>
          <p:cNvSpPr>
            <a:spLocks noGrp="1"/>
          </p:cNvSpPr>
          <p:nvPr>
            <p:ph type="pic" idx="1"/>
          </p:nvPr>
        </p:nvSpPr>
        <p:spPr>
          <a:xfrm>
            <a:off x="5865812" y="533400"/>
            <a:ext cx="5780173" cy="5791200"/>
          </a:xfrm>
          <a:ln w="50800">
            <a:solidFill>
              <a:schemeClr val="tx1">
                <a:lumMod val="65000"/>
                <a:lumOff val="35000"/>
              </a:schemeClr>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065213" y="2209800"/>
            <a:ext cx="4114800" cy="3810000"/>
          </a:xfrm>
        </p:spPr>
        <p:txBody>
          <a:bodyPr>
            <a:normAutofit/>
          </a:bodyPr>
          <a:lstStyle>
            <a:lvl1pPr marL="0" indent="0">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a:t>Click to edit Master text styles</a:t>
            </a:r>
          </a:p>
        </p:txBody>
      </p:sp>
      <p:sp>
        <p:nvSpPr>
          <p:cNvPr id="5" name="Rectangle 4"/>
          <p:cNvSpPr/>
          <p:nvPr userDrawn="1"/>
        </p:nvSpPr>
        <p:spPr>
          <a:xfrm>
            <a:off x="1065213" y="6305107"/>
            <a:ext cx="1901483"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000" b="0" i="0" u="none" strike="noStrike" kern="1200" cap="none" spc="0" normalizeH="0" baseline="0" noProof="0" dirty="0" smtClean="0">
                <a:ln>
                  <a:noFill/>
                </a:ln>
                <a:solidFill>
                  <a:srgbClr val="000000">
                    <a:lumMod val="65000"/>
                    <a:lumOff val="35000"/>
                  </a:srgbClr>
                </a:solidFill>
                <a:effectLst/>
                <a:uLnTx/>
                <a:uFillTx/>
                <a:latin typeface="+mn-lt"/>
              </a:rPr>
              <a:t>Copyright © 2015  Alain Abran </a:t>
            </a:r>
            <a:endParaRPr kumimoji="0" lang="en-CA" sz="1000" b="0" i="0" u="none" strike="noStrike" kern="1200" cap="none" spc="0" normalizeH="0" baseline="0" noProof="0" dirty="0">
              <a:ln>
                <a:noFill/>
              </a:ln>
              <a:solidFill>
                <a:srgbClr val="000000">
                  <a:lumMod val="65000"/>
                  <a:lumOff val="35000"/>
                </a:srgbClr>
              </a:solidFill>
              <a:effectLst/>
              <a:uLnTx/>
              <a:uFillTx/>
              <a:latin typeface="+mn-lt"/>
            </a:endParaRPr>
          </a:p>
        </p:txBody>
      </p:sp>
    </p:spTree>
    <p:extLst>
      <p:ext uri="{BB962C8B-B14F-4D97-AF65-F5344CB8AC3E}">
        <p14:creationId xmlns:p14="http://schemas.microsoft.com/office/powerpoint/2010/main" val="1419608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a:xfrm>
            <a:off x="6932612" y="6155267"/>
            <a:ext cx="1371600" cy="273049"/>
          </a:xfrm>
          <a:prstGeom prst="rect">
            <a:avLst/>
          </a:prstGeom>
        </p:spPr>
        <p:txBody>
          <a:bodyPr/>
          <a:lstStyle/>
          <a:p>
            <a:fld id="{3E0FA9E5-6744-4841-888F-9E7CC0C2B7EC}" type="datetimeFigureOut">
              <a:rPr lang="en-US"/>
              <a:t>4/27/2016</a:t>
            </a:fld>
            <a:endParaRPr/>
          </a:p>
        </p:txBody>
      </p:sp>
      <p:sp>
        <p:nvSpPr>
          <p:cNvPr id="5" name="Footer Placeholder 4"/>
          <p:cNvSpPr>
            <a:spLocks noGrp="1"/>
          </p:cNvSpPr>
          <p:nvPr>
            <p:ph type="ftr" sz="quarter" idx="11"/>
          </p:nvPr>
        </p:nvSpPr>
        <p:spPr/>
        <p:txBody>
          <a:bodyPr/>
          <a:lstStyle/>
          <a:p>
            <a:r>
              <a:rPr lang="en-CA" dirty="0" smtClean="0"/>
              <a:t>Copyright © 2015  Alain Abran </a:t>
            </a:r>
            <a:endParaRPr lang="en-CA" dirty="0"/>
          </a:p>
        </p:txBody>
      </p:sp>
      <p:sp>
        <p:nvSpPr>
          <p:cNvPr id="6" name="Slide Number Placeholder 5"/>
          <p:cNvSpPr>
            <a:spLocks noGrp="1"/>
          </p:cNvSpPr>
          <p:nvPr>
            <p:ph type="sldNum" sz="quarter" idx="12"/>
          </p:nvPr>
        </p:nvSpPr>
        <p:spPr/>
        <p:txBody>
          <a:bodyPr/>
          <a:lstStyle/>
          <a:p>
            <a:fld id="{AAEAE4A8-A6E5-453E-B946-FB774B73F48C}" type="slidenum">
              <a:rPr/>
              <a:t>‹N°›</a:t>
            </a:fld>
            <a:endParaRPr/>
          </a:p>
        </p:txBody>
      </p:sp>
    </p:spTree>
    <p:extLst>
      <p:ext uri="{BB962C8B-B14F-4D97-AF65-F5344CB8AC3E}">
        <p14:creationId xmlns:p14="http://schemas.microsoft.com/office/powerpoint/2010/main" val="2668093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1412" y="533400"/>
            <a:ext cx="2362201" cy="5486400"/>
          </a:xfrm>
        </p:spPr>
        <p:txBody>
          <a:bodyPr vert="eaVert"/>
          <a:lstStyle/>
          <a:p>
            <a:r>
              <a:rPr/>
              <a:t>Click to edit Master title style</a:t>
            </a:r>
          </a:p>
        </p:txBody>
      </p:sp>
      <p:sp>
        <p:nvSpPr>
          <p:cNvPr id="3" name="Vertical Text Placeholder 2"/>
          <p:cNvSpPr>
            <a:spLocks noGrp="1"/>
          </p:cNvSpPr>
          <p:nvPr>
            <p:ph type="body" orient="vert" idx="1"/>
          </p:nvPr>
        </p:nvSpPr>
        <p:spPr>
          <a:xfrm>
            <a:off x="1065213" y="533400"/>
            <a:ext cx="7467599" cy="5486400"/>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Tree>
    <p:extLst>
      <p:ext uri="{BB962C8B-B14F-4D97-AF65-F5344CB8AC3E}">
        <p14:creationId xmlns:p14="http://schemas.microsoft.com/office/powerpoint/2010/main" val="188244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5212" y="533400"/>
            <a:ext cx="8686801" cy="1066800"/>
          </a:xfrm>
          <a:prstGeom prst="rect">
            <a:avLst/>
          </a:prstGeom>
        </p:spPr>
        <p:txBody>
          <a:bodyPr vert="horz" lIns="91440" tIns="45720" rIns="91440" bIns="45720" rtlCol="0" anchor="b">
            <a:normAutofit/>
          </a:bodyPr>
          <a:lstStyle/>
          <a:p>
            <a:r>
              <a:rPr dirty="0"/>
              <a:t>Click to edit Master title style</a:t>
            </a:r>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a:t>
            </a:r>
            <a:r>
              <a:rPr dirty="0" smtClean="0"/>
              <a:t>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r>
              <a:rPr lang="en-CA" dirty="0" smtClean="0"/>
              <a:t>Copyright © 2015  Alain Abran </a:t>
            </a:r>
            <a:endParaRPr lang="en-CA"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AAEAE4A8-A6E5-453E-B946-FB774B73F48C}" type="slidenum">
              <a:rPr/>
              <a:pPr/>
              <a:t>‹N°›</a:t>
            </a:fld>
            <a:endParaRPr dirty="0"/>
          </a:p>
        </p:txBody>
      </p:sp>
    </p:spTree>
    <p:extLst>
      <p:ext uri="{BB962C8B-B14F-4D97-AF65-F5344CB8AC3E}">
        <p14:creationId xmlns:p14="http://schemas.microsoft.com/office/powerpoint/2010/main" val="15970541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defTabSz="914400" rtl="0" eaLnBrk="1" latinLnBrk="0" hangingPunct="1">
        <a:lnSpc>
          <a:spcPct val="80000"/>
        </a:lnSpc>
        <a:spcBef>
          <a:spcPct val="0"/>
        </a:spcBef>
        <a:buNone/>
        <a:defRPr sz="3600" b="1" kern="1200">
          <a:solidFill>
            <a:schemeClr val="accent1"/>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pos="3839"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1412" y="1828800"/>
            <a:ext cx="7772398" cy="1752600"/>
          </a:xfrm>
        </p:spPr>
        <p:txBody>
          <a:bodyPr>
            <a:normAutofit/>
          </a:bodyPr>
          <a:lstStyle/>
          <a:p>
            <a:pPr algn="ctr">
              <a:spcBef>
                <a:spcPts val="1200"/>
              </a:spcBef>
              <a:spcAft>
                <a:spcPts val="1000"/>
              </a:spcAft>
            </a:pPr>
            <a:r>
              <a:rPr lang="en-CA" sz="3600" dirty="0" smtClean="0"/>
              <a:t>What must be verified in an estimation process: Overview</a:t>
            </a:r>
            <a:br>
              <a:rPr lang="en-CA" sz="3600" dirty="0" smtClean="0"/>
            </a:br>
            <a:r>
              <a:rPr lang="en-CA" sz="2700" dirty="0" smtClean="0"/>
              <a:t>(Chapter </a:t>
            </a:r>
            <a:r>
              <a:rPr lang="en-CA" sz="2700" dirty="0" smtClean="0"/>
              <a:t>4)</a:t>
            </a:r>
            <a:endParaRPr lang="en-US" sz="2700" dirty="0"/>
          </a:p>
        </p:txBody>
      </p:sp>
      <p:sp>
        <p:nvSpPr>
          <p:cNvPr id="3" name="Subtitle 2"/>
          <p:cNvSpPr>
            <a:spLocks noGrp="1"/>
          </p:cNvSpPr>
          <p:nvPr>
            <p:ph type="subTitle" idx="1"/>
          </p:nvPr>
        </p:nvSpPr>
        <p:spPr>
          <a:xfrm>
            <a:off x="1674812" y="4267200"/>
            <a:ext cx="6248400" cy="1270000"/>
          </a:xfrm>
        </p:spPr>
        <p:txBody>
          <a:bodyPr>
            <a:normAutofit/>
          </a:bodyPr>
          <a:lstStyle/>
          <a:p>
            <a:pPr algn="ctr"/>
            <a:r>
              <a:rPr lang="en-CA" sz="3500" dirty="0"/>
              <a:t>Alain </a:t>
            </a:r>
            <a:r>
              <a:rPr lang="en-CA" sz="3500" dirty="0" smtClean="0"/>
              <a:t>Abran</a:t>
            </a:r>
            <a:endParaRPr lang="en-CA" dirty="0"/>
          </a:p>
          <a:p>
            <a:pPr algn="ctr"/>
            <a:r>
              <a:rPr lang="en-CA" dirty="0" smtClean="0"/>
              <a:t>(Tutorial Contribution</a:t>
            </a:r>
            <a:r>
              <a:rPr lang="en-CA" dirty="0"/>
              <a:t>: Dr. </a:t>
            </a:r>
            <a:r>
              <a:rPr lang="en-CA" dirty="0" smtClean="0"/>
              <a:t>M. </a:t>
            </a:r>
            <a:r>
              <a:rPr lang="en-CA" dirty="0"/>
              <a:t>Villavicencio)</a:t>
            </a:r>
          </a:p>
        </p:txBody>
      </p:sp>
      <p:sp>
        <p:nvSpPr>
          <p:cNvPr id="4" name="Footer Placeholder 3"/>
          <p:cNvSpPr>
            <a:spLocks noGrp="1"/>
          </p:cNvSpPr>
          <p:nvPr>
            <p:ph type="ftr" sz="quarter" idx="11"/>
          </p:nvPr>
        </p:nvSpPr>
        <p:spPr>
          <a:xfrm>
            <a:off x="4251325" y="6584951"/>
            <a:ext cx="5653087" cy="273049"/>
          </a:xfrm>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a:t>
            </a:fld>
            <a:endParaRPr lang="en-CA"/>
          </a:p>
        </p:txBody>
      </p:sp>
      <p:graphicFrame>
        <p:nvGraphicFramePr>
          <p:cNvPr id="6" name="Objet 5"/>
          <p:cNvGraphicFramePr>
            <a:graphicFrameLocks noChangeAspect="1"/>
          </p:cNvGraphicFramePr>
          <p:nvPr>
            <p:extLst>
              <p:ext uri="{D42A27DB-BD31-4B8C-83A1-F6EECF244321}">
                <p14:modId xmlns:p14="http://schemas.microsoft.com/office/powerpoint/2010/main" val="915529664"/>
              </p:ext>
            </p:extLst>
          </p:nvPr>
        </p:nvGraphicFramePr>
        <p:xfrm>
          <a:off x="4418012" y="381000"/>
          <a:ext cx="1295399" cy="1612284"/>
        </p:xfrm>
        <a:graphic>
          <a:graphicData uri="http://schemas.openxmlformats.org/presentationml/2006/ole">
            <mc:AlternateContent xmlns:mc="http://schemas.openxmlformats.org/markup-compatibility/2006">
              <mc:Choice xmlns:v="urn:schemas-microsoft-com:vml" Requires="v">
                <p:oleObj spid="_x0000_s1027" name="Acrobat Document" r:id="rId4" imgW="5610600" imgH="8420040" progId="AcroExch.Document.DC">
                  <p:embed/>
                </p:oleObj>
              </mc:Choice>
              <mc:Fallback>
                <p:oleObj name="Acrobat Document" r:id="rId4" imgW="5610600" imgH="8420040" progId="AcroExch.Document.DC">
                  <p:embed/>
                  <p:pic>
                    <p:nvPicPr>
                      <p:cNvPr id="0" name="Obje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8012" y="381000"/>
                        <a:ext cx="1295399" cy="161228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493259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t>Topics covered</a:t>
            </a:r>
            <a:endParaRPr lang="en-US" dirty="0"/>
          </a:p>
        </p:txBody>
      </p:sp>
      <p:sp>
        <p:nvSpPr>
          <p:cNvPr id="14" name="Content Placeholder 13"/>
          <p:cNvSpPr>
            <a:spLocks noGrp="1"/>
          </p:cNvSpPr>
          <p:nvPr>
            <p:ph idx="1"/>
          </p:nvPr>
        </p:nvSpPr>
        <p:spPr>
          <a:xfrm>
            <a:off x="1065212" y="1828800"/>
            <a:ext cx="8686801" cy="3429000"/>
          </a:xfrm>
        </p:spPr>
        <p:txBody>
          <a:bodyPr>
            <a:normAutofit/>
          </a:bodyPr>
          <a:lstStyle/>
          <a:p>
            <a:pPr marL="502920" indent="-457200">
              <a:buClr>
                <a:schemeClr val="accent1"/>
              </a:buClr>
              <a:buFont typeface="+mj-lt"/>
              <a:buAutoNum type="arabicPeriod"/>
            </a:pPr>
            <a:r>
              <a:rPr lang="en-CA" sz="2400" dirty="0" smtClean="0"/>
              <a:t>Introduction</a:t>
            </a:r>
          </a:p>
          <a:p>
            <a:pPr marL="502920" indent="-457200">
              <a:buClr>
                <a:schemeClr val="accent1"/>
              </a:buClr>
              <a:buFont typeface="+mj-lt"/>
              <a:buAutoNum type="arabicPeriod"/>
            </a:pPr>
            <a:r>
              <a:rPr lang="en-CA" sz="2400" dirty="0" smtClean="0"/>
              <a:t>Verification of the inputs to the estimation process</a:t>
            </a:r>
            <a:endParaRPr lang="en-CA" sz="2400" dirty="0"/>
          </a:p>
          <a:p>
            <a:pPr marL="502920" indent="-457200">
              <a:buClr>
                <a:schemeClr val="accent1"/>
              </a:buClr>
              <a:buFont typeface="+mj-lt"/>
              <a:buAutoNum type="arabicPeriod"/>
            </a:pPr>
            <a:r>
              <a:rPr lang="en-CA" sz="2400" dirty="0"/>
              <a:t>Verification of </a:t>
            </a:r>
            <a:r>
              <a:rPr lang="en-CA" sz="2400" dirty="0" smtClean="0"/>
              <a:t>the productivity model</a:t>
            </a:r>
          </a:p>
          <a:p>
            <a:pPr marL="502920" indent="-457200">
              <a:buClr>
                <a:schemeClr val="accent1"/>
              </a:buClr>
              <a:buFont typeface="+mj-lt"/>
              <a:buAutoNum type="arabicPeriod"/>
            </a:pPr>
            <a:r>
              <a:rPr lang="en-CA" sz="2400" dirty="0" smtClean="0"/>
              <a:t>Verification of the adjustment phase</a:t>
            </a:r>
          </a:p>
          <a:p>
            <a:pPr marL="502920" indent="-457200">
              <a:buClr>
                <a:schemeClr val="accent1"/>
              </a:buClr>
              <a:buFont typeface="+mj-lt"/>
              <a:buAutoNum type="arabicPeriod"/>
            </a:pPr>
            <a:r>
              <a:rPr lang="en-CA" sz="2400" dirty="0" smtClean="0"/>
              <a:t>Verification of the budgeting phase</a:t>
            </a:r>
          </a:p>
          <a:p>
            <a:pPr marL="502920" indent="-457200">
              <a:buClr>
                <a:schemeClr val="accent1"/>
              </a:buClr>
              <a:buFont typeface="+mj-lt"/>
              <a:buAutoNum type="arabicPeriod"/>
            </a:pPr>
            <a:r>
              <a:rPr lang="en-CA" sz="2400" dirty="0" smtClean="0"/>
              <a:t>Re-estimation &amp; continuous improvement</a:t>
            </a:r>
          </a:p>
          <a:p>
            <a:pPr marL="502920" indent="-457200">
              <a:buClr>
                <a:schemeClr val="accent1"/>
              </a:buClr>
              <a:buFont typeface="+mj-lt"/>
              <a:buAutoNum type="arabicPeriod"/>
            </a:pPr>
            <a:endParaRPr lang="en-CA" sz="2400" dirty="0"/>
          </a:p>
          <a:p>
            <a:pPr marL="502920" indent="-457200">
              <a:buClr>
                <a:schemeClr val="accent1"/>
              </a:buClr>
              <a:buFont typeface="+mj-lt"/>
              <a:buAutoNum type="arabicPeriod"/>
            </a:pPr>
            <a:endParaRPr lang="en-US" sz="2400" dirty="0" smtClean="0"/>
          </a:p>
          <a:p>
            <a:pPr marL="45720" indent="0">
              <a:buNone/>
            </a:pPr>
            <a:endParaRPr lang="en-US" sz="2400" dirty="0"/>
          </a:p>
        </p:txBody>
      </p:sp>
      <p:sp>
        <p:nvSpPr>
          <p:cNvPr id="2" name="Footer Placeholder 1"/>
          <p:cNvSpPr>
            <a:spLocks noGrp="1"/>
          </p:cNvSpPr>
          <p:nvPr>
            <p:ph type="ftr" sz="quarter" idx="11"/>
          </p:nvPr>
        </p:nvSpPr>
        <p:spPr/>
        <p:txBody>
          <a:bodyPr/>
          <a:lstStyle/>
          <a:p>
            <a:r>
              <a:rPr lang="en-CA" dirty="0"/>
              <a:t>Copyright © 2015  Alain Abran </a:t>
            </a:r>
          </a:p>
        </p:txBody>
      </p:sp>
      <p:sp>
        <p:nvSpPr>
          <p:cNvPr id="3" name="Slide Number Placeholder 2"/>
          <p:cNvSpPr>
            <a:spLocks noGrp="1"/>
          </p:cNvSpPr>
          <p:nvPr>
            <p:ph type="sldNum" sz="quarter" idx="12"/>
          </p:nvPr>
        </p:nvSpPr>
        <p:spPr/>
        <p:txBody>
          <a:bodyPr/>
          <a:lstStyle/>
          <a:p>
            <a:fld id="{AAEAE4A8-A6E5-453E-B946-FB774B73F48C}" type="slidenum">
              <a:rPr lang="en-CA" smtClean="0"/>
              <a:t>2</a:t>
            </a:fld>
            <a:endParaRPr lang="en-CA" dirty="0"/>
          </a:p>
        </p:txBody>
      </p:sp>
    </p:spTree>
    <p:extLst>
      <p:ext uri="{BB962C8B-B14F-4D97-AF65-F5344CB8AC3E}">
        <p14:creationId xmlns:p14="http://schemas.microsoft.com/office/powerpoint/2010/main" val="143723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4</a:t>
            </a:r>
            <a:r>
              <a:rPr lang="en-CA" dirty="0" smtClean="0"/>
              <a:t>.1 Introduction </a:t>
            </a:r>
            <a:endParaRPr lang="en-CA" dirty="0"/>
          </a:p>
        </p:txBody>
      </p:sp>
      <p:sp>
        <p:nvSpPr>
          <p:cNvPr id="3" name="Text Placeholder 2"/>
          <p:cNvSpPr>
            <a:spLocks noGrp="1"/>
          </p:cNvSpPr>
          <p:nvPr>
            <p:ph type="body" idx="1"/>
          </p:nvPr>
        </p:nvSpPr>
        <p:spPr>
          <a:xfrm>
            <a:off x="1065214" y="3124200"/>
            <a:ext cx="8686800" cy="1752600"/>
          </a:xfrm>
        </p:spPr>
        <p:txBody>
          <a:bodyPr>
            <a:normAutofit lnSpcReduction="10000"/>
          </a:bodyPr>
          <a:lstStyle/>
          <a:p>
            <a:r>
              <a:rPr lang="en-CA" dirty="0" smtClean="0"/>
              <a:t>This chapter presents an overview of the verification steps that should be carried out through out the estimation process.</a:t>
            </a:r>
          </a:p>
          <a:p>
            <a:endParaRPr lang="en-CA" dirty="0" smtClean="0"/>
          </a:p>
          <a:p>
            <a:r>
              <a:rPr lang="en-CA" dirty="0" smtClean="0"/>
              <a:t>The detailed verification activities will be presented in the subsequent 3 chapters of the book </a:t>
            </a:r>
            <a:r>
              <a:rPr lang="en-CA" sz="2000" dirty="0" smtClean="0"/>
              <a:t>(chapters 5 to 7).</a:t>
            </a:r>
            <a:endParaRPr lang="en-CA" sz="2000" dirty="0"/>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AEAE4A8-A6E5-453E-B946-FB774B73F48C}" type="slidenum">
              <a:rPr lang="en-CA" smtClean="0"/>
              <a:t>3</a:t>
            </a:fld>
            <a:endParaRPr lang="en-CA"/>
          </a:p>
        </p:txBody>
      </p:sp>
    </p:spTree>
    <p:extLst>
      <p:ext uri="{BB962C8B-B14F-4D97-AF65-F5344CB8AC3E}">
        <p14:creationId xmlns:p14="http://schemas.microsoft.com/office/powerpoint/2010/main" val="25092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CA" smtClean="0"/>
              <a:t>Copyright © 2015  Alain Abran </a:t>
            </a:r>
            <a:endParaRPr lang="en-CA" dirty="0"/>
          </a:p>
        </p:txBody>
      </p:sp>
      <p:sp>
        <p:nvSpPr>
          <p:cNvPr id="4" name="Slide Number Placeholder 3"/>
          <p:cNvSpPr>
            <a:spLocks noGrp="1"/>
          </p:cNvSpPr>
          <p:nvPr>
            <p:ph type="sldNum" sz="quarter" idx="12"/>
          </p:nvPr>
        </p:nvSpPr>
        <p:spPr/>
        <p:txBody>
          <a:bodyPr/>
          <a:lstStyle/>
          <a:p>
            <a:fld id="{AAEAE4A8-A6E5-453E-B946-FB774B73F48C}" type="slidenum">
              <a:rPr lang="en-CA" smtClean="0"/>
              <a:t>4</a:t>
            </a:fld>
            <a:endParaRPr lang="en-CA"/>
          </a:p>
        </p:txBody>
      </p:sp>
      <p:sp>
        <p:nvSpPr>
          <p:cNvPr id="5" name="Rectangle 4"/>
          <p:cNvSpPr/>
          <p:nvPr/>
        </p:nvSpPr>
        <p:spPr>
          <a:xfrm>
            <a:off x="2894012" y="762000"/>
            <a:ext cx="6248400" cy="954107"/>
          </a:xfrm>
          <a:prstGeom prst="rect">
            <a:avLst/>
          </a:prstGeom>
          <a:ln w="28575">
            <a:solidFill>
              <a:srgbClr val="FF0000"/>
            </a:solidFill>
          </a:ln>
        </p:spPr>
        <p:txBody>
          <a:bodyPr wrap="square">
            <a:spAutoFit/>
          </a:bodyPr>
          <a:lstStyle/>
          <a:p>
            <a:pPr algn="ctr"/>
            <a:r>
              <a:rPr lang="en-CA" sz="2800" dirty="0"/>
              <a:t>V</a:t>
            </a:r>
            <a:r>
              <a:rPr lang="en-CA" sz="2800" dirty="0" smtClean="0"/>
              <a:t>erify the </a:t>
            </a:r>
            <a:r>
              <a:rPr lang="en-CA" sz="2800" dirty="0"/>
              <a:t>quality </a:t>
            </a:r>
            <a:r>
              <a:rPr lang="en-CA" sz="2800" dirty="0" smtClean="0"/>
              <a:t>&amp; understand the limitations of these estimation models</a:t>
            </a:r>
            <a:endParaRPr lang="en-CA" sz="2800" dirty="0"/>
          </a:p>
        </p:txBody>
      </p:sp>
      <p:pic>
        <p:nvPicPr>
          <p:cNvPr id="6" name="Picture 5"/>
          <p:cNvPicPr>
            <a:picLocks noChangeAspect="1"/>
          </p:cNvPicPr>
          <p:nvPr/>
        </p:nvPicPr>
        <p:blipFill>
          <a:blip r:embed="rId2"/>
          <a:stretch>
            <a:fillRect/>
          </a:stretch>
        </p:blipFill>
        <p:spPr>
          <a:xfrm>
            <a:off x="6943724" y="1771947"/>
            <a:ext cx="4495800" cy="4415366"/>
          </a:xfrm>
          <a:prstGeom prst="rect">
            <a:avLst/>
          </a:prstGeom>
        </p:spPr>
      </p:pic>
      <p:pic>
        <p:nvPicPr>
          <p:cNvPr id="9" name="Picture 8"/>
          <p:cNvPicPr>
            <a:picLocks noChangeAspect="1"/>
          </p:cNvPicPr>
          <p:nvPr/>
        </p:nvPicPr>
        <p:blipFill>
          <a:blip r:embed="rId3"/>
          <a:stretch>
            <a:fillRect/>
          </a:stretch>
        </p:blipFill>
        <p:spPr>
          <a:xfrm>
            <a:off x="9341406" y="3048000"/>
            <a:ext cx="897409" cy="818103"/>
          </a:xfrm>
          <a:prstGeom prst="rect">
            <a:avLst/>
          </a:prstGeom>
        </p:spPr>
      </p:pic>
      <p:sp>
        <p:nvSpPr>
          <p:cNvPr id="10" name="TextBox 9"/>
          <p:cNvSpPr txBox="1"/>
          <p:nvPr/>
        </p:nvSpPr>
        <p:spPr>
          <a:xfrm>
            <a:off x="9523412" y="3866103"/>
            <a:ext cx="685800" cy="430887"/>
          </a:xfrm>
          <a:prstGeom prst="rect">
            <a:avLst/>
          </a:prstGeom>
          <a:noFill/>
        </p:spPr>
        <p:txBody>
          <a:bodyPr wrap="square" rtlCol="0">
            <a:spAutoFit/>
          </a:bodyPr>
          <a:lstStyle/>
          <a:p>
            <a:pPr algn="ctr"/>
            <a:r>
              <a:rPr lang="en-CA" sz="1100" dirty="0" smtClean="0">
                <a:latin typeface="Agency FB" panose="020B0503020202020204" pitchFamily="34" charset="0"/>
              </a:rPr>
              <a:t>Estimation model</a:t>
            </a:r>
            <a:endParaRPr lang="en-CA" sz="1100" dirty="0">
              <a:latin typeface="Agency FB" panose="020B0503020202020204" pitchFamily="34" charset="0"/>
            </a:endParaRPr>
          </a:p>
        </p:txBody>
      </p:sp>
      <p:sp>
        <p:nvSpPr>
          <p:cNvPr id="11" name="Rectangle 10"/>
          <p:cNvSpPr/>
          <p:nvPr/>
        </p:nvSpPr>
        <p:spPr>
          <a:xfrm>
            <a:off x="4494212" y="6026440"/>
            <a:ext cx="3115468" cy="184666"/>
          </a:xfrm>
          <a:prstGeom prst="rect">
            <a:avLst/>
          </a:prstGeom>
        </p:spPr>
        <p:txBody>
          <a:bodyPr wrap="square">
            <a:spAutoFit/>
          </a:bodyPr>
          <a:lstStyle/>
          <a:p>
            <a:r>
              <a:rPr lang="en-CA" sz="600" dirty="0"/>
              <a:t>http://isorequirements.com/iso_9001_7.4.3_verification_of_purchased_product.html</a:t>
            </a:r>
          </a:p>
        </p:txBody>
      </p:sp>
      <p:sp>
        <p:nvSpPr>
          <p:cNvPr id="2" name="Rectangle 1"/>
          <p:cNvSpPr/>
          <p:nvPr/>
        </p:nvSpPr>
        <p:spPr>
          <a:xfrm>
            <a:off x="1571624" y="2667000"/>
            <a:ext cx="6553200" cy="1785104"/>
          </a:xfrm>
          <a:prstGeom prst="rect">
            <a:avLst/>
          </a:prstGeom>
        </p:spPr>
        <p:txBody>
          <a:bodyPr wrap="square">
            <a:spAutoFit/>
          </a:bodyPr>
          <a:lstStyle/>
          <a:p>
            <a:pPr algn="just">
              <a:buClr>
                <a:srgbClr val="00B0F0"/>
              </a:buClr>
              <a:buFont typeface="Wingdings" panose="05000000000000000000" pitchFamily="2" charset="2"/>
              <a:buChar char="Ø"/>
            </a:pPr>
            <a:r>
              <a:rPr lang="en-CA" sz="2800" dirty="0"/>
              <a:t>The Web (No-fee estimation software</a:t>
            </a:r>
            <a:r>
              <a:rPr lang="en-CA" sz="2800" dirty="0" smtClean="0"/>
              <a:t>) </a:t>
            </a:r>
            <a:endParaRPr lang="en-CA" sz="2800" dirty="0"/>
          </a:p>
          <a:p>
            <a:pPr algn="just">
              <a:buClr>
                <a:srgbClr val="00B0F0"/>
              </a:buClr>
              <a:buFont typeface="Wingdings" panose="05000000000000000000" pitchFamily="2" charset="2"/>
              <a:buChar char="Ø"/>
            </a:pPr>
            <a:r>
              <a:rPr lang="en-CA" sz="2800" dirty="0"/>
              <a:t>Vendors of estimation software tools </a:t>
            </a:r>
          </a:p>
          <a:p>
            <a:pPr lvl="1" algn="just">
              <a:buClr>
                <a:srgbClr val="00B0F0"/>
              </a:buClr>
              <a:buFont typeface="Wingdings" panose="05000000000000000000" pitchFamily="2" charset="2"/>
              <a:buChar char="§"/>
            </a:pPr>
            <a:r>
              <a:rPr lang="en-CA" dirty="0"/>
              <a:t>(black box estimation software tools)</a:t>
            </a:r>
            <a:r>
              <a:rPr lang="en-CA" sz="2600" dirty="0"/>
              <a:t> </a:t>
            </a:r>
          </a:p>
          <a:p>
            <a:pPr algn="just">
              <a:buClr>
                <a:srgbClr val="00B0F0"/>
              </a:buClr>
              <a:buFont typeface="Wingdings" panose="05000000000000000000" pitchFamily="2" charset="2"/>
              <a:buChar char="Ø"/>
            </a:pPr>
            <a:r>
              <a:rPr lang="en-CA" sz="2800" dirty="0"/>
              <a:t>Books &amp; magazines</a:t>
            </a:r>
            <a:r>
              <a:rPr lang="en-CA" sz="2800" dirty="0" smtClean="0"/>
              <a:t>,</a:t>
            </a:r>
            <a:endParaRPr lang="en-CA" sz="2800" dirty="0"/>
          </a:p>
        </p:txBody>
      </p:sp>
    </p:spTree>
    <p:extLst>
      <p:ext uri="{BB962C8B-B14F-4D97-AF65-F5344CB8AC3E}">
        <p14:creationId xmlns:p14="http://schemas.microsoft.com/office/powerpoint/2010/main" val="362460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4</a:t>
            </a:r>
            <a:r>
              <a:rPr lang="en-CA" dirty="0" smtClean="0"/>
              <a:t>.2 Verification of the inputs </a:t>
            </a:r>
            <a:endParaRPr lang="en-CA" dirty="0"/>
          </a:p>
        </p:txBody>
      </p:sp>
      <p:sp>
        <p:nvSpPr>
          <p:cNvPr id="3" name="Text Placeholder 2"/>
          <p:cNvSpPr>
            <a:spLocks noGrp="1"/>
          </p:cNvSpPr>
          <p:nvPr>
            <p:ph type="body" idx="1"/>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AEAE4A8-A6E5-453E-B946-FB774B73F48C}" type="slidenum">
              <a:rPr lang="en-CA" smtClean="0"/>
              <a:t>5</a:t>
            </a:fld>
            <a:endParaRPr lang="en-CA"/>
          </a:p>
        </p:txBody>
      </p:sp>
    </p:spTree>
    <p:extLst>
      <p:ext uri="{BB962C8B-B14F-4D97-AF65-F5344CB8AC3E}">
        <p14:creationId xmlns:p14="http://schemas.microsoft.com/office/powerpoint/2010/main" val="1211096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4812" y="838200"/>
            <a:ext cx="8077202" cy="762000"/>
          </a:xfrm>
        </p:spPr>
        <p:txBody>
          <a:bodyPr>
            <a:normAutofit fontScale="90000"/>
          </a:bodyPr>
          <a:lstStyle/>
          <a:p>
            <a:pPr algn="ctr"/>
            <a:r>
              <a:rPr lang="en-CA" dirty="0" smtClean="0"/>
              <a:t>Identification of the estimation inputs &amp; of their quality as Inputs</a:t>
            </a:r>
            <a:endParaRPr lang="en-CA" dirty="0"/>
          </a:p>
        </p:txBody>
      </p:sp>
      <p:sp>
        <p:nvSpPr>
          <p:cNvPr id="3" name="Content Placeholder 2"/>
          <p:cNvSpPr>
            <a:spLocks noGrp="1"/>
          </p:cNvSpPr>
          <p:nvPr>
            <p:ph idx="1"/>
          </p:nvPr>
        </p:nvSpPr>
        <p:spPr>
          <a:xfrm>
            <a:off x="1903411" y="1905000"/>
            <a:ext cx="8001001" cy="4114800"/>
          </a:xfrm>
        </p:spPr>
        <p:txBody>
          <a:bodyPr>
            <a:normAutofit/>
          </a:bodyPr>
          <a:lstStyle/>
          <a:p>
            <a:pPr marL="44450" indent="0" algn="just">
              <a:spcAft>
                <a:spcPts val="1000"/>
              </a:spcAft>
              <a:buClr>
                <a:srgbClr val="00B0F0"/>
              </a:buClr>
              <a:buNone/>
            </a:pPr>
            <a:r>
              <a:rPr lang="en-CA" sz="2800" dirty="0" smtClean="0"/>
              <a:t>What is their quality as inputs to and estimation process?</a:t>
            </a:r>
          </a:p>
          <a:p>
            <a:pPr marL="533400" indent="-488950" algn="just">
              <a:spcAft>
                <a:spcPts val="1000"/>
              </a:spcAft>
              <a:buClr>
                <a:srgbClr val="00B0F0"/>
              </a:buClr>
            </a:pPr>
            <a:r>
              <a:rPr lang="en-CA" sz="2800" dirty="0" smtClean="0"/>
              <a:t>Quantitative </a:t>
            </a:r>
            <a:r>
              <a:rPr lang="en-CA" sz="2800" dirty="0"/>
              <a:t>product information </a:t>
            </a:r>
            <a:r>
              <a:rPr lang="en-CA" sz="2800" dirty="0" smtClean="0"/>
              <a:t>(for </a:t>
            </a:r>
            <a:r>
              <a:rPr lang="en-CA" sz="2800" dirty="0"/>
              <a:t>the independent </a:t>
            </a:r>
            <a:r>
              <a:rPr lang="en-CA" sz="2800" dirty="0" smtClean="0"/>
              <a:t>variable).</a:t>
            </a:r>
          </a:p>
          <a:p>
            <a:pPr marL="533400" indent="-488950" algn="just">
              <a:spcAft>
                <a:spcPts val="1000"/>
              </a:spcAft>
              <a:buClr>
                <a:srgbClr val="00B0F0"/>
              </a:buClr>
            </a:pPr>
            <a:r>
              <a:rPr lang="en-CA" sz="2800" dirty="0" smtClean="0"/>
              <a:t>Descriptive process information (for the selection of a specific model).</a:t>
            </a:r>
            <a:endParaRPr lang="en-CA" sz="2800" dirty="0"/>
          </a:p>
        </p:txBody>
      </p:sp>
      <p:sp>
        <p:nvSpPr>
          <p:cNvPr id="4" name="Footer Placeholder 3"/>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6</a:t>
            </a:fld>
            <a:endParaRPr lang="en-CA" dirty="0"/>
          </a:p>
        </p:txBody>
      </p:sp>
    </p:spTree>
    <p:extLst>
      <p:ext uri="{BB962C8B-B14F-4D97-AF65-F5344CB8AC3E}">
        <p14:creationId xmlns:p14="http://schemas.microsoft.com/office/powerpoint/2010/main" val="822009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184" y="838200"/>
            <a:ext cx="8910830" cy="762000"/>
          </a:xfrm>
        </p:spPr>
        <p:txBody>
          <a:bodyPr/>
          <a:lstStyle/>
          <a:p>
            <a:pPr algn="ctr"/>
            <a:r>
              <a:rPr lang="en-CA" dirty="0" smtClean="0"/>
              <a:t>Product information</a:t>
            </a:r>
            <a:endParaRPr lang="en-CA" dirty="0"/>
          </a:p>
        </p:txBody>
      </p:sp>
      <p:sp>
        <p:nvSpPr>
          <p:cNvPr id="3" name="Content Placeholder 2"/>
          <p:cNvSpPr>
            <a:spLocks noGrp="1"/>
          </p:cNvSpPr>
          <p:nvPr>
            <p:ph idx="1"/>
          </p:nvPr>
        </p:nvSpPr>
        <p:spPr>
          <a:xfrm>
            <a:off x="2589212" y="1905000"/>
            <a:ext cx="7772400" cy="4114800"/>
          </a:xfrm>
        </p:spPr>
        <p:txBody>
          <a:bodyPr>
            <a:normAutofit fontScale="92500" lnSpcReduction="10000"/>
          </a:bodyPr>
          <a:lstStyle/>
          <a:p>
            <a:pPr marL="533400" indent="-488950" algn="just">
              <a:spcAft>
                <a:spcPts val="1000"/>
              </a:spcAft>
              <a:buClr>
                <a:srgbClr val="00B0F0"/>
              </a:buClr>
              <a:buFont typeface="Wingdings" panose="05000000000000000000" pitchFamily="2" charset="2"/>
              <a:buChar char="Ø"/>
            </a:pPr>
            <a:r>
              <a:rPr lang="en-CA" sz="2800" dirty="0"/>
              <a:t>T</a:t>
            </a:r>
            <a:r>
              <a:rPr lang="en-CA" sz="2800" dirty="0" smtClean="0"/>
              <a:t>he </a:t>
            </a:r>
            <a:r>
              <a:rPr lang="en-CA" sz="2800" dirty="0"/>
              <a:t>functional </a:t>
            </a:r>
            <a:r>
              <a:rPr lang="en-CA" sz="2800" dirty="0" smtClean="0"/>
              <a:t>requirements </a:t>
            </a:r>
          </a:p>
          <a:p>
            <a:pPr marL="853440" lvl="1" indent="-488950" algn="just">
              <a:spcAft>
                <a:spcPts val="1000"/>
              </a:spcAft>
              <a:buClr>
                <a:srgbClr val="00B0F0"/>
              </a:buClr>
            </a:pPr>
            <a:r>
              <a:rPr lang="en-CA" sz="2600" dirty="0" smtClean="0"/>
              <a:t>see next example. </a:t>
            </a:r>
          </a:p>
          <a:p>
            <a:pPr marL="533400" indent="-488950" algn="just">
              <a:spcAft>
                <a:spcPts val="1000"/>
              </a:spcAft>
              <a:buClr>
                <a:srgbClr val="00B0F0"/>
              </a:buClr>
              <a:buFont typeface="Wingdings" panose="05000000000000000000" pitchFamily="2" charset="2"/>
              <a:buChar char="Ø"/>
            </a:pPr>
            <a:r>
              <a:rPr lang="en-CA" sz="2800" dirty="0" smtClean="0"/>
              <a:t>The </a:t>
            </a:r>
            <a:r>
              <a:rPr lang="en-CA" sz="2800" dirty="0"/>
              <a:t>non functional </a:t>
            </a:r>
            <a:r>
              <a:rPr lang="en-CA" sz="2800" dirty="0" smtClean="0"/>
              <a:t>requirements: </a:t>
            </a:r>
          </a:p>
          <a:p>
            <a:pPr marL="853440" lvl="1" indent="-488950" algn="just">
              <a:spcAft>
                <a:spcPts val="1000"/>
              </a:spcAft>
              <a:buClr>
                <a:srgbClr val="00B0F0"/>
              </a:buClr>
            </a:pPr>
            <a:r>
              <a:rPr lang="en-CA" sz="2000" dirty="0" smtClean="0"/>
              <a:t>are they detailed enough?</a:t>
            </a:r>
          </a:p>
          <a:p>
            <a:pPr marL="533400" indent="-488950" algn="just">
              <a:spcAft>
                <a:spcPts val="1000"/>
              </a:spcAft>
              <a:buClr>
                <a:srgbClr val="00B0F0"/>
              </a:buClr>
              <a:buFont typeface="Wingdings" panose="05000000000000000000" pitchFamily="2" charset="2"/>
              <a:buChar char="Ø"/>
            </a:pPr>
            <a:r>
              <a:rPr lang="en-CA" sz="2800" dirty="0" smtClean="0"/>
              <a:t>The </a:t>
            </a:r>
            <a:r>
              <a:rPr lang="en-CA" sz="2800" dirty="0"/>
              <a:t>relationships between the system view and the software </a:t>
            </a:r>
            <a:r>
              <a:rPr lang="en-CA" sz="2800" dirty="0" smtClean="0"/>
              <a:t>view: </a:t>
            </a:r>
          </a:p>
          <a:p>
            <a:pPr marL="853440" lvl="1" indent="-488950" algn="just">
              <a:spcAft>
                <a:spcPts val="1000"/>
              </a:spcAft>
              <a:buClr>
                <a:srgbClr val="00B0F0"/>
              </a:buClr>
            </a:pPr>
            <a:r>
              <a:rPr lang="en-CA" sz="2000" dirty="0" smtClean="0"/>
              <a:t>have the functions to be allocated to software already been identified and corresponding software-hardware interfaces specified?</a:t>
            </a:r>
            <a:endParaRPr lang="en-CA" sz="2000" dirty="0"/>
          </a:p>
        </p:txBody>
      </p:sp>
      <p:sp>
        <p:nvSpPr>
          <p:cNvPr id="4" name="Footer Placeholder 3"/>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7</a:t>
            </a:fld>
            <a:endParaRPr lang="en-CA" dirty="0"/>
          </a:p>
        </p:txBody>
      </p:sp>
    </p:spTree>
    <p:extLst>
      <p:ext uri="{BB962C8B-B14F-4D97-AF65-F5344CB8AC3E}">
        <p14:creationId xmlns:p14="http://schemas.microsoft.com/office/powerpoint/2010/main" val="3265372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1" y="228600"/>
            <a:ext cx="8991601" cy="1295400"/>
          </a:xfrm>
        </p:spPr>
        <p:txBody>
          <a:bodyPr>
            <a:normAutofit/>
          </a:bodyPr>
          <a:lstStyle/>
          <a:p>
            <a:pPr algn="ctr"/>
            <a:r>
              <a:rPr lang="en-CA" dirty="0" smtClean="0"/>
              <a:t>Example: Are </a:t>
            </a:r>
            <a:r>
              <a:rPr lang="en-CA" dirty="0"/>
              <a:t>Function Points accurate as estimation </a:t>
            </a:r>
            <a:r>
              <a:rPr lang="en-CA" dirty="0" smtClean="0"/>
              <a:t>input?</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8</a:t>
            </a:fld>
            <a:endParaRPr lang="en-CA"/>
          </a:p>
        </p:txBody>
      </p:sp>
      <p:sp>
        <p:nvSpPr>
          <p:cNvPr id="4" name="Rectangle 3"/>
          <p:cNvSpPr/>
          <p:nvPr/>
        </p:nvSpPr>
        <p:spPr>
          <a:xfrm>
            <a:off x="1293812" y="1766689"/>
            <a:ext cx="9753600" cy="4021614"/>
          </a:xfrm>
          <a:prstGeom prst="rect">
            <a:avLst/>
          </a:prstGeom>
        </p:spPr>
        <p:txBody>
          <a:bodyPr wrap="square">
            <a:spAutoFit/>
          </a:bodyPr>
          <a:lstStyle/>
          <a:p>
            <a:pPr>
              <a:spcAft>
                <a:spcPts val="1200"/>
              </a:spcAft>
            </a:pPr>
            <a:r>
              <a:rPr lang="en-CA" sz="2800" dirty="0" smtClean="0"/>
              <a:t> For </a:t>
            </a:r>
            <a:r>
              <a:rPr lang="en-CA" sz="2800" dirty="0"/>
              <a:t>projects to be estimated:  </a:t>
            </a:r>
          </a:p>
          <a:p>
            <a:pPr marL="514350" indent="-514350" algn="just">
              <a:spcBef>
                <a:spcPts val="800"/>
              </a:spcBef>
              <a:buClr>
                <a:schemeClr val="accent1"/>
              </a:buClr>
              <a:buFont typeface="+mj-lt"/>
              <a:buAutoNum type="alphaUcPeriod"/>
            </a:pPr>
            <a:r>
              <a:rPr lang="en-CA" sz="2400" dirty="0" smtClean="0"/>
              <a:t>When </a:t>
            </a:r>
            <a:r>
              <a:rPr lang="en-CA" sz="2400" dirty="0"/>
              <a:t>all the requirements are detailed </a:t>
            </a:r>
            <a:r>
              <a:rPr lang="en-CA" sz="2400" dirty="0" smtClean="0"/>
              <a:t>&amp; </a:t>
            </a:r>
            <a:r>
              <a:rPr lang="en-CA" sz="2400" dirty="0"/>
              <a:t>available, Function Points can be measured quite accurately </a:t>
            </a:r>
            <a:r>
              <a:rPr lang="en-CA" sz="2400" dirty="0" smtClean="0"/>
              <a:t>&amp; </a:t>
            </a:r>
            <a:r>
              <a:rPr lang="en-CA" sz="2400" dirty="0"/>
              <a:t>used with confidence as inputs to an estimation process</a:t>
            </a:r>
            <a:r>
              <a:rPr lang="en-CA" sz="2400" dirty="0" smtClean="0"/>
              <a:t>.</a:t>
            </a:r>
          </a:p>
          <a:p>
            <a:pPr algn="just">
              <a:spcBef>
                <a:spcPts val="800"/>
              </a:spcBef>
              <a:buClr>
                <a:schemeClr val="accent1"/>
              </a:buClr>
            </a:pPr>
            <a:endParaRPr lang="en-CA" sz="2400" dirty="0" smtClean="0"/>
          </a:p>
          <a:p>
            <a:pPr marL="514350" indent="-514350" algn="just">
              <a:buClr>
                <a:schemeClr val="accent1"/>
              </a:buClr>
              <a:buFont typeface="+mj-lt"/>
              <a:buAutoNum type="alphaUcPeriod" startAt="2"/>
            </a:pPr>
            <a:r>
              <a:rPr lang="en-CA" sz="2400" dirty="0" smtClean="0"/>
              <a:t>When not all the requirements are detailed:  there are techniques for approximating candidate size ranges – see: </a:t>
            </a:r>
          </a:p>
          <a:p>
            <a:pPr algn="just">
              <a:buClr>
                <a:schemeClr val="accent1"/>
              </a:buClr>
            </a:pPr>
            <a:endParaRPr lang="en-CA" sz="2000" dirty="0" smtClean="0"/>
          </a:p>
          <a:p>
            <a:pPr algn="just">
              <a:buClr>
                <a:schemeClr val="accent1"/>
              </a:buClr>
            </a:pPr>
            <a:endParaRPr lang="en-CA" sz="2000" dirty="0"/>
          </a:p>
          <a:p>
            <a:pPr algn="just">
              <a:buClr>
                <a:schemeClr val="accent1"/>
              </a:buClr>
            </a:pPr>
            <a:r>
              <a:rPr lang="en-CA" sz="2000" dirty="0" smtClean="0"/>
              <a:t>			</a:t>
            </a:r>
            <a:r>
              <a:rPr lang="en-CA" sz="2000" dirty="0" smtClean="0">
                <a:solidFill>
                  <a:schemeClr val="accent1"/>
                </a:solidFill>
              </a:rPr>
              <a:t>www.cosmic-sizing.org</a:t>
            </a:r>
            <a:endParaRPr lang="en-CA" sz="2000" dirty="0">
              <a:solidFill>
                <a:schemeClr val="accent1"/>
              </a:solidFill>
            </a:endParaRPr>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70812" y="4474993"/>
            <a:ext cx="1503363" cy="16210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08233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0724" y="533400"/>
            <a:ext cx="7761289" cy="762000"/>
          </a:xfrm>
        </p:spPr>
        <p:txBody>
          <a:bodyPr/>
          <a:lstStyle/>
          <a:p>
            <a:pPr algn="ctr"/>
            <a:r>
              <a:rPr lang="en-CA" dirty="0" smtClean="0"/>
              <a:t>Process information available?</a:t>
            </a:r>
            <a:endParaRPr lang="en-CA" dirty="0"/>
          </a:p>
        </p:txBody>
      </p:sp>
      <p:sp>
        <p:nvSpPr>
          <p:cNvPr id="3" name="Content Placeholder 2"/>
          <p:cNvSpPr>
            <a:spLocks noGrp="1"/>
          </p:cNvSpPr>
          <p:nvPr>
            <p:ph idx="1"/>
          </p:nvPr>
        </p:nvSpPr>
        <p:spPr>
          <a:xfrm>
            <a:off x="1990725" y="1490133"/>
            <a:ext cx="7772400" cy="4114800"/>
          </a:xfrm>
        </p:spPr>
        <p:txBody>
          <a:bodyPr>
            <a:normAutofit/>
          </a:bodyPr>
          <a:lstStyle/>
          <a:p>
            <a:pPr marL="533400" indent="-488950" algn="just">
              <a:spcAft>
                <a:spcPts val="1000"/>
              </a:spcAft>
              <a:buClr>
                <a:srgbClr val="00B0F0"/>
              </a:buClr>
            </a:pPr>
            <a:r>
              <a:rPr lang="en-CA" sz="2800" dirty="0" smtClean="0"/>
              <a:t>Expected </a:t>
            </a:r>
            <a:r>
              <a:rPr lang="en-CA" sz="2800" dirty="0"/>
              <a:t>characteristics of the development process </a:t>
            </a:r>
            <a:r>
              <a:rPr lang="en-CA" sz="2800" dirty="0" smtClean="0"/>
              <a:t>&amp; implementation </a:t>
            </a:r>
            <a:r>
              <a:rPr lang="en-CA" sz="2800" dirty="0"/>
              <a:t>platform. </a:t>
            </a:r>
            <a:endParaRPr lang="en-CA" sz="2800" dirty="0" smtClean="0"/>
          </a:p>
          <a:p>
            <a:pPr marL="533400" indent="-488950" algn="just">
              <a:spcAft>
                <a:spcPts val="1000"/>
              </a:spcAft>
              <a:buClr>
                <a:srgbClr val="00B0F0"/>
              </a:buClr>
            </a:pPr>
            <a:r>
              <a:rPr lang="en-CA" sz="2800" dirty="0" smtClean="0"/>
              <a:t>Known constraints: technical </a:t>
            </a:r>
            <a:r>
              <a:rPr lang="en-CA" sz="2800" dirty="0"/>
              <a:t>environment, such as DBMS, programming languages, programming standards, etc. </a:t>
            </a:r>
          </a:p>
        </p:txBody>
      </p:sp>
      <p:sp>
        <p:nvSpPr>
          <p:cNvPr id="4" name="Footer Placeholder 3"/>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9</a:t>
            </a:fld>
            <a:endParaRPr lang="en-CA" dirty="0"/>
          </a:p>
        </p:txBody>
      </p:sp>
      <p:pic>
        <p:nvPicPr>
          <p:cNvPr id="6" name="Picture 5"/>
          <p:cNvPicPr>
            <a:picLocks noChangeAspect="1"/>
          </p:cNvPicPr>
          <p:nvPr/>
        </p:nvPicPr>
        <p:blipFill>
          <a:blip r:embed="rId3"/>
          <a:stretch>
            <a:fillRect/>
          </a:stretch>
        </p:blipFill>
        <p:spPr>
          <a:xfrm>
            <a:off x="4577556" y="3962401"/>
            <a:ext cx="2888456" cy="2286000"/>
          </a:xfrm>
          <a:prstGeom prst="rect">
            <a:avLst/>
          </a:prstGeom>
        </p:spPr>
      </p:pic>
      <p:sp>
        <p:nvSpPr>
          <p:cNvPr id="7" name="Rectangle 6"/>
          <p:cNvSpPr/>
          <p:nvPr/>
        </p:nvSpPr>
        <p:spPr>
          <a:xfrm>
            <a:off x="4418012" y="6520934"/>
            <a:ext cx="3502025" cy="184666"/>
          </a:xfrm>
          <a:prstGeom prst="rect">
            <a:avLst/>
          </a:prstGeom>
        </p:spPr>
        <p:txBody>
          <a:bodyPr wrap="square">
            <a:spAutoFit/>
          </a:bodyPr>
          <a:lstStyle/>
          <a:p>
            <a:r>
              <a:rPr lang="en-CA" sz="600" dirty="0"/>
              <a:t>https://www.easyuni.com/en/advice/388/10-programming-languages-you-should-learn-in-2014/</a:t>
            </a:r>
          </a:p>
        </p:txBody>
      </p:sp>
    </p:spTree>
    <p:extLst>
      <p:ext uri="{BB962C8B-B14F-4D97-AF65-F5344CB8AC3E}">
        <p14:creationId xmlns:p14="http://schemas.microsoft.com/office/powerpoint/2010/main" val="12530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1" y="228600"/>
            <a:ext cx="8686801" cy="838200"/>
          </a:xfrm>
        </p:spPr>
        <p:txBody>
          <a:bodyPr>
            <a:normAutofit/>
          </a:bodyPr>
          <a:lstStyle/>
          <a:p>
            <a:pPr algn="ctr"/>
            <a:r>
              <a:rPr lang="en-CA" dirty="0" smtClean="0"/>
              <a:t>Documenting the quality of the inputs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10</a:t>
            </a:fld>
            <a:endParaRPr lang="en-CA"/>
          </a:p>
        </p:txBody>
      </p:sp>
      <p:pic>
        <p:nvPicPr>
          <p:cNvPr id="6" name="Picture 5"/>
          <p:cNvPicPr>
            <a:picLocks noChangeAspect="1"/>
          </p:cNvPicPr>
          <p:nvPr/>
        </p:nvPicPr>
        <p:blipFill>
          <a:blip r:embed="rId2"/>
          <a:stretch>
            <a:fillRect/>
          </a:stretch>
        </p:blipFill>
        <p:spPr>
          <a:xfrm>
            <a:off x="1896020" y="1059192"/>
            <a:ext cx="7855993" cy="5089999"/>
          </a:xfrm>
          <a:prstGeom prst="rect">
            <a:avLst/>
          </a:prstGeom>
        </p:spPr>
      </p:pic>
    </p:spTree>
    <p:extLst>
      <p:ext uri="{BB962C8B-B14F-4D97-AF65-F5344CB8AC3E}">
        <p14:creationId xmlns:p14="http://schemas.microsoft.com/office/powerpoint/2010/main" val="96097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4.3 Verification of the productivity model </a:t>
            </a:r>
            <a:endParaRPr lang="en-CA" dirty="0"/>
          </a:p>
        </p:txBody>
      </p:sp>
      <p:sp>
        <p:nvSpPr>
          <p:cNvPr id="3" name="Text Placeholder 2"/>
          <p:cNvSpPr>
            <a:spLocks noGrp="1"/>
          </p:cNvSpPr>
          <p:nvPr>
            <p:ph type="body" idx="1"/>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AEAE4A8-A6E5-453E-B946-FB774B73F48C}" type="slidenum">
              <a:rPr lang="en-CA" smtClean="0"/>
              <a:t>11</a:t>
            </a:fld>
            <a:endParaRPr lang="en-CA"/>
          </a:p>
        </p:txBody>
      </p:sp>
    </p:spTree>
    <p:extLst>
      <p:ext uri="{BB962C8B-B14F-4D97-AF65-F5344CB8AC3E}">
        <p14:creationId xmlns:p14="http://schemas.microsoft.com/office/powerpoint/2010/main" val="3814334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012" y="533400"/>
            <a:ext cx="8077200" cy="1143000"/>
          </a:xfrm>
        </p:spPr>
        <p:txBody>
          <a:bodyPr>
            <a:normAutofit/>
          </a:bodyPr>
          <a:lstStyle/>
          <a:p>
            <a:pPr algn="ctr"/>
            <a:r>
              <a:rPr lang="en-CA" dirty="0" smtClean="0"/>
              <a:t>In-house productivity models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12</a:t>
            </a:fld>
            <a:endParaRPr lang="en-CA"/>
          </a:p>
        </p:txBody>
      </p:sp>
      <p:sp>
        <p:nvSpPr>
          <p:cNvPr id="6" name="Content Placeholder 2"/>
          <p:cNvSpPr txBox="1">
            <a:spLocks/>
          </p:cNvSpPr>
          <p:nvPr/>
        </p:nvSpPr>
        <p:spPr>
          <a:xfrm>
            <a:off x="1979612" y="2133600"/>
            <a:ext cx="8610600" cy="3962400"/>
          </a:xfrm>
          <a:prstGeom prst="rect">
            <a:avLst/>
          </a:prstGeom>
        </p:spPr>
        <p:txBody>
          <a:bodyPr>
            <a:norm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44450" indent="0" algn="just">
              <a:spcAft>
                <a:spcPts val="1000"/>
              </a:spcAft>
              <a:buClr>
                <a:srgbClr val="00B0F0"/>
              </a:buClr>
              <a:buNone/>
            </a:pPr>
            <a:r>
              <a:rPr lang="en-CA" sz="3200" dirty="0" smtClean="0"/>
              <a:t>These models are built:</a:t>
            </a:r>
          </a:p>
          <a:p>
            <a:pPr marL="533400" indent="-488950" algn="just">
              <a:spcAft>
                <a:spcPts val="1000"/>
              </a:spcAft>
              <a:buClr>
                <a:srgbClr val="00B0F0"/>
              </a:buClr>
              <a:buFont typeface="Wingdings" panose="05000000000000000000" pitchFamily="2" charset="2"/>
              <a:buChar char="ü"/>
            </a:pPr>
            <a:r>
              <a:rPr lang="en-CA" sz="2800" dirty="0" smtClean="0"/>
              <a:t>Using </a:t>
            </a:r>
            <a:r>
              <a:rPr lang="en-CA" sz="2800" dirty="0"/>
              <a:t>the organization’s own historical </a:t>
            </a:r>
            <a:r>
              <a:rPr lang="en-CA" sz="2800" dirty="0" smtClean="0"/>
              <a:t>data.</a:t>
            </a:r>
          </a:p>
          <a:p>
            <a:pPr marL="853440" lvl="1" indent="-488950" algn="just">
              <a:spcAft>
                <a:spcPts val="1000"/>
              </a:spcAft>
              <a:buClr>
                <a:srgbClr val="00B0F0"/>
              </a:buClr>
            </a:pPr>
            <a:r>
              <a:rPr lang="en-CA" sz="2400" dirty="0" smtClean="0"/>
              <a:t>The quality relies on </a:t>
            </a:r>
            <a:r>
              <a:rPr lang="en-CA" sz="2400" dirty="0"/>
              <a:t>the basis of such historical data. </a:t>
            </a:r>
            <a:endParaRPr lang="en-CA" sz="2800" dirty="0"/>
          </a:p>
        </p:txBody>
      </p:sp>
      <p:pic>
        <p:nvPicPr>
          <p:cNvPr id="7" name="Picture 6"/>
          <p:cNvPicPr>
            <a:picLocks noChangeAspect="1"/>
          </p:cNvPicPr>
          <p:nvPr/>
        </p:nvPicPr>
        <p:blipFill>
          <a:blip r:embed="rId2"/>
          <a:stretch>
            <a:fillRect/>
          </a:stretch>
        </p:blipFill>
        <p:spPr>
          <a:xfrm>
            <a:off x="455612" y="304800"/>
            <a:ext cx="1962150" cy="1600200"/>
          </a:xfrm>
          <a:prstGeom prst="rect">
            <a:avLst/>
          </a:prstGeom>
        </p:spPr>
      </p:pic>
    </p:spTree>
    <p:extLst>
      <p:ext uri="{BB962C8B-B14F-4D97-AF65-F5344CB8AC3E}">
        <p14:creationId xmlns:p14="http://schemas.microsoft.com/office/powerpoint/2010/main" val="1143312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1" y="228600"/>
            <a:ext cx="8686801" cy="838200"/>
          </a:xfrm>
        </p:spPr>
        <p:txBody>
          <a:bodyPr>
            <a:normAutofit/>
          </a:bodyPr>
          <a:lstStyle/>
          <a:p>
            <a:pPr algn="ctr"/>
            <a:r>
              <a:rPr lang="en-CA" dirty="0" smtClean="0"/>
              <a:t>Representativeness &amp; Population sample</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13</a:t>
            </a:fld>
            <a:endParaRPr lang="en-CA"/>
          </a:p>
        </p:txBody>
      </p:sp>
      <p:pic>
        <p:nvPicPr>
          <p:cNvPr id="4" name="Picture 3"/>
          <p:cNvPicPr>
            <a:picLocks noChangeAspect="1"/>
          </p:cNvPicPr>
          <p:nvPr/>
        </p:nvPicPr>
        <p:blipFill>
          <a:blip r:embed="rId2"/>
          <a:stretch>
            <a:fillRect/>
          </a:stretch>
        </p:blipFill>
        <p:spPr>
          <a:xfrm>
            <a:off x="1855382" y="1068761"/>
            <a:ext cx="7896631" cy="5095669"/>
          </a:xfrm>
          <a:prstGeom prst="rect">
            <a:avLst/>
          </a:prstGeom>
        </p:spPr>
      </p:pic>
      <p:sp>
        <p:nvSpPr>
          <p:cNvPr id="6" name="ZoneTexte 5"/>
          <p:cNvSpPr txBox="1"/>
          <p:nvPr/>
        </p:nvSpPr>
        <p:spPr>
          <a:xfrm>
            <a:off x="7847012" y="3657600"/>
            <a:ext cx="2580526" cy="1077218"/>
          </a:xfrm>
          <a:prstGeom prst="rect">
            <a:avLst/>
          </a:prstGeom>
          <a:noFill/>
        </p:spPr>
        <p:txBody>
          <a:bodyPr wrap="square" rtlCol="0">
            <a:spAutoFit/>
          </a:bodyPr>
          <a:lstStyle/>
          <a:p>
            <a:r>
              <a:rPr lang="fr-CA" sz="3200" b="1" dirty="0" smtClean="0">
                <a:solidFill>
                  <a:srgbClr val="C00000"/>
                </a:solidFill>
              </a:rPr>
              <a:t>= </a:t>
            </a:r>
            <a:r>
              <a:rPr lang="fr-CA" sz="3200" b="1" dirty="0" err="1" smtClean="0">
                <a:solidFill>
                  <a:srgbClr val="C00000"/>
                </a:solidFill>
              </a:rPr>
              <a:t>Outside</a:t>
            </a:r>
            <a:r>
              <a:rPr lang="fr-CA" sz="3200" b="1" dirty="0" smtClean="0">
                <a:solidFill>
                  <a:srgbClr val="C00000"/>
                </a:solidFill>
              </a:rPr>
              <a:t> of range!</a:t>
            </a:r>
            <a:endParaRPr lang="fr-CA" sz="3200" b="1" dirty="0">
              <a:solidFill>
                <a:srgbClr val="C00000"/>
              </a:solidFill>
            </a:endParaRPr>
          </a:p>
        </p:txBody>
      </p:sp>
    </p:spTree>
    <p:extLst>
      <p:ext uri="{BB962C8B-B14F-4D97-AF65-F5344CB8AC3E}">
        <p14:creationId xmlns:p14="http://schemas.microsoft.com/office/powerpoint/2010/main" val="2250031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012" y="228600"/>
            <a:ext cx="11961813" cy="685800"/>
          </a:xfrm>
        </p:spPr>
        <p:txBody>
          <a:bodyPr>
            <a:normAutofit fontScale="90000"/>
          </a:bodyPr>
          <a:lstStyle/>
          <a:p>
            <a:pPr algn="ctr"/>
            <a:r>
              <a:rPr lang="en-CA" dirty="0" smtClean="0"/>
              <a:t>Verification of the Productivity Model </a:t>
            </a:r>
            <a:br>
              <a:rPr lang="en-CA" dirty="0" smtClean="0"/>
            </a:br>
            <a:r>
              <a:rPr lang="en-CA" dirty="0" smtClean="0"/>
              <a:t>used in an Estimation context</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14</a:t>
            </a:fld>
            <a:endParaRPr lang="en-CA"/>
          </a:p>
        </p:txBody>
      </p:sp>
      <p:pic>
        <p:nvPicPr>
          <p:cNvPr id="6" name="Picture 5"/>
          <p:cNvPicPr>
            <a:picLocks noChangeAspect="1"/>
          </p:cNvPicPr>
          <p:nvPr/>
        </p:nvPicPr>
        <p:blipFill>
          <a:blip r:embed="rId2"/>
          <a:stretch>
            <a:fillRect/>
          </a:stretch>
        </p:blipFill>
        <p:spPr>
          <a:xfrm>
            <a:off x="2023013" y="1105026"/>
            <a:ext cx="8142797" cy="4647947"/>
          </a:xfrm>
          <a:prstGeom prst="rect">
            <a:avLst/>
          </a:prstGeom>
          <a:ln w="19050">
            <a:solidFill>
              <a:srgbClr val="FF0000"/>
            </a:solidFill>
          </a:ln>
        </p:spPr>
      </p:pic>
    </p:spTree>
    <p:extLst>
      <p:ext uri="{BB962C8B-B14F-4D97-AF65-F5344CB8AC3E}">
        <p14:creationId xmlns:p14="http://schemas.microsoft.com/office/powerpoint/2010/main" val="3043612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012" y="533400"/>
            <a:ext cx="8077200" cy="1143000"/>
          </a:xfrm>
        </p:spPr>
        <p:txBody>
          <a:bodyPr>
            <a:normAutofit/>
          </a:bodyPr>
          <a:lstStyle/>
          <a:p>
            <a:pPr algn="ctr"/>
            <a:r>
              <a:rPr lang="en-CA" dirty="0" smtClean="0"/>
              <a:t>Externally </a:t>
            </a:r>
            <a:r>
              <a:rPr lang="en-CA" dirty="0"/>
              <a:t>p</a:t>
            </a:r>
            <a:r>
              <a:rPr lang="en-CA" dirty="0" smtClean="0"/>
              <a:t>rovided estimation models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15</a:t>
            </a:fld>
            <a:endParaRPr lang="en-CA"/>
          </a:p>
        </p:txBody>
      </p:sp>
      <p:sp>
        <p:nvSpPr>
          <p:cNvPr id="6" name="Content Placeholder 2"/>
          <p:cNvSpPr txBox="1">
            <a:spLocks/>
          </p:cNvSpPr>
          <p:nvPr/>
        </p:nvSpPr>
        <p:spPr>
          <a:xfrm>
            <a:off x="1065213" y="2057400"/>
            <a:ext cx="9524999" cy="39624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spcAft>
                <a:spcPts val="1000"/>
              </a:spcAft>
              <a:buClr>
                <a:srgbClr val="00B0F0"/>
              </a:buClr>
              <a:buFont typeface="Wingdings" panose="05000000000000000000" pitchFamily="2" charset="2"/>
              <a:buChar char="Ø"/>
            </a:pPr>
            <a:r>
              <a:rPr lang="en-CA" sz="2800" dirty="0" smtClean="0"/>
              <a:t>Used when organizations do not have their own repository of completed projects. </a:t>
            </a:r>
          </a:p>
          <a:p>
            <a:pPr marL="501650" indent="-457200" algn="just">
              <a:spcAft>
                <a:spcPts val="1000"/>
              </a:spcAft>
              <a:buClr>
                <a:srgbClr val="00B0F0"/>
              </a:buClr>
              <a:buFont typeface="Wingdings" panose="05000000000000000000" pitchFamily="2" charset="2"/>
              <a:buChar char="Ø"/>
            </a:pPr>
            <a:r>
              <a:rPr lang="en-CA" sz="2800" dirty="0" smtClean="0"/>
              <a:t>These models are:</a:t>
            </a:r>
          </a:p>
          <a:p>
            <a:pPr marL="821690" lvl="1" indent="-457200" algn="just">
              <a:spcAft>
                <a:spcPts val="600"/>
              </a:spcAft>
              <a:buClr>
                <a:srgbClr val="00B0F0"/>
              </a:buClr>
            </a:pPr>
            <a:r>
              <a:rPr lang="en-CA" sz="2500" dirty="0"/>
              <a:t>S</a:t>
            </a:r>
            <a:r>
              <a:rPr lang="en-CA" sz="2500" dirty="0" smtClean="0"/>
              <a:t>tored </a:t>
            </a:r>
            <a:r>
              <a:rPr lang="en-CA" sz="2500" dirty="0"/>
              <a:t>in </a:t>
            </a:r>
            <a:r>
              <a:rPr lang="en-CA" sz="2500" dirty="0" smtClean="0"/>
              <a:t>repositories </a:t>
            </a:r>
            <a:r>
              <a:rPr lang="en-CA" dirty="0" smtClean="0"/>
              <a:t>(e.g. ISBSG – see chapter 8)</a:t>
            </a:r>
          </a:p>
          <a:p>
            <a:pPr marL="821690" lvl="1" indent="-457200" algn="just">
              <a:spcAft>
                <a:spcPts val="600"/>
              </a:spcAft>
              <a:buClr>
                <a:srgbClr val="00B0F0"/>
              </a:buClr>
            </a:pPr>
            <a:r>
              <a:rPr lang="en-CA" sz="2500" dirty="0" smtClean="0"/>
              <a:t>Embedded </a:t>
            </a:r>
            <a:r>
              <a:rPr lang="en-CA" sz="2500" dirty="0"/>
              <a:t>within software estimation </a:t>
            </a:r>
            <a:r>
              <a:rPr lang="en-CA" sz="2500" dirty="0" smtClean="0"/>
              <a:t>tools from </a:t>
            </a:r>
            <a:r>
              <a:rPr lang="en-CA" sz="2500" dirty="0"/>
              <a:t>vendors </a:t>
            </a:r>
            <a:r>
              <a:rPr lang="en-CA" sz="2500" dirty="0" smtClean="0"/>
              <a:t>or  </a:t>
            </a:r>
            <a:r>
              <a:rPr lang="en-CA" sz="2500" dirty="0"/>
              <a:t>from the </a:t>
            </a:r>
            <a:r>
              <a:rPr lang="en-CA" sz="2500" dirty="0" smtClean="0"/>
              <a:t>Web.</a:t>
            </a:r>
          </a:p>
          <a:p>
            <a:pPr marL="821690" lvl="1" indent="-457200" algn="just">
              <a:spcAft>
                <a:spcPts val="600"/>
              </a:spcAft>
              <a:buClr>
                <a:srgbClr val="00B0F0"/>
              </a:buClr>
            </a:pPr>
            <a:r>
              <a:rPr lang="en-CA" sz="2500" dirty="0" smtClean="0"/>
              <a:t>Based on models &amp; </a:t>
            </a:r>
            <a:r>
              <a:rPr lang="en-CA" sz="2500" dirty="0"/>
              <a:t>mathematical </a:t>
            </a:r>
            <a:r>
              <a:rPr lang="en-CA" sz="2500" dirty="0" smtClean="0"/>
              <a:t>formulae </a:t>
            </a:r>
            <a:r>
              <a:rPr lang="en-CA" sz="2500" dirty="0"/>
              <a:t>from the literature </a:t>
            </a:r>
            <a:r>
              <a:rPr lang="en-CA" sz="2000" dirty="0"/>
              <a:t>(e.g. the </a:t>
            </a:r>
            <a:r>
              <a:rPr lang="en-CA" sz="2000" dirty="0" smtClean="0"/>
              <a:t>COCOMO’81 &amp; COCOMO’II </a:t>
            </a:r>
            <a:r>
              <a:rPr lang="en-CA" sz="2000" dirty="0"/>
              <a:t>models</a:t>
            </a:r>
            <a:r>
              <a:rPr lang="en-CA" sz="2500" dirty="0"/>
              <a:t>).</a:t>
            </a:r>
          </a:p>
        </p:txBody>
      </p:sp>
      <p:pic>
        <p:nvPicPr>
          <p:cNvPr id="1026" name="Picture 2" descr="http://www.rankuno.com/images/img_outsourcing.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2012" y="168117"/>
            <a:ext cx="2128838" cy="188293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31249" y="1689734"/>
            <a:ext cx="2157963" cy="184666"/>
          </a:xfrm>
          <a:prstGeom prst="rect">
            <a:avLst/>
          </a:prstGeom>
        </p:spPr>
        <p:txBody>
          <a:bodyPr wrap="none">
            <a:spAutoFit/>
          </a:bodyPr>
          <a:lstStyle/>
          <a:p>
            <a:r>
              <a:rPr lang="en-CA" sz="600" dirty="0"/>
              <a:t>http://www.rankuno.com/outsource-internet-marketing.asp</a:t>
            </a:r>
          </a:p>
        </p:txBody>
      </p:sp>
    </p:spTree>
    <p:extLst>
      <p:ext uri="{BB962C8B-B14F-4D97-AF65-F5344CB8AC3E}">
        <p14:creationId xmlns:p14="http://schemas.microsoft.com/office/powerpoint/2010/main" val="2505740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012" y="533400"/>
            <a:ext cx="8610600" cy="762000"/>
          </a:xfrm>
        </p:spPr>
        <p:txBody>
          <a:bodyPr>
            <a:normAutofit/>
          </a:bodyPr>
          <a:lstStyle/>
          <a:p>
            <a:pPr algn="ctr"/>
            <a:r>
              <a:rPr lang="en-CA" dirty="0" smtClean="0"/>
              <a:t>Considerations for Using </a:t>
            </a:r>
            <a:r>
              <a:rPr lang="en-CA" dirty="0"/>
              <a:t>E</a:t>
            </a:r>
            <a:r>
              <a:rPr lang="en-CA" dirty="0" smtClean="0"/>
              <a:t>xternal </a:t>
            </a:r>
            <a:r>
              <a:rPr lang="en-CA" dirty="0"/>
              <a:t>M</a:t>
            </a:r>
            <a:r>
              <a:rPr lang="en-CA" dirty="0" smtClean="0"/>
              <a:t>odels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16</a:t>
            </a:fld>
            <a:endParaRPr lang="en-CA"/>
          </a:p>
        </p:txBody>
      </p:sp>
      <p:sp>
        <p:nvSpPr>
          <p:cNvPr id="6" name="Content Placeholder 2"/>
          <p:cNvSpPr txBox="1">
            <a:spLocks/>
          </p:cNvSpPr>
          <p:nvPr/>
        </p:nvSpPr>
        <p:spPr>
          <a:xfrm>
            <a:off x="1065213" y="2057400"/>
            <a:ext cx="9524999" cy="39624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spcAft>
                <a:spcPts val="1000"/>
              </a:spcAft>
              <a:buClr>
                <a:srgbClr val="00B0F0"/>
              </a:buClr>
            </a:pPr>
            <a:r>
              <a:rPr lang="en-CA" sz="2800" dirty="0" smtClean="0"/>
              <a:t>Determine the predictability of the model </a:t>
            </a:r>
            <a:r>
              <a:rPr lang="en-CA" sz="2800" dirty="0"/>
              <a:t>for the organization </a:t>
            </a:r>
            <a:r>
              <a:rPr lang="en-CA" sz="2800" dirty="0" smtClean="0"/>
              <a:t>usage.</a:t>
            </a:r>
          </a:p>
          <a:p>
            <a:pPr marL="501650" indent="-457200" algn="just">
              <a:spcAft>
                <a:spcPts val="1000"/>
              </a:spcAft>
              <a:buClr>
                <a:srgbClr val="00B0F0"/>
              </a:buClr>
            </a:pPr>
            <a:r>
              <a:rPr lang="en-CA" sz="2800" dirty="0" smtClean="0"/>
              <a:t>Calibrate the model to </a:t>
            </a:r>
            <a:r>
              <a:rPr lang="en-CA" sz="2800" dirty="0"/>
              <a:t>the business environment </a:t>
            </a:r>
            <a:r>
              <a:rPr lang="en-CA" sz="2800" dirty="0" smtClean="0"/>
              <a:t>of the organization.</a:t>
            </a:r>
          </a:p>
          <a:p>
            <a:pPr marL="501650" indent="-457200" algn="just">
              <a:spcAft>
                <a:spcPts val="1000"/>
              </a:spcAft>
              <a:buClr>
                <a:srgbClr val="00B0F0"/>
              </a:buClr>
            </a:pPr>
            <a:r>
              <a:rPr lang="en-CA" sz="2800" dirty="0" smtClean="0"/>
              <a:t>Commit </a:t>
            </a:r>
            <a:r>
              <a:rPr lang="en-CA" sz="2800" dirty="0"/>
              <a:t>resources </a:t>
            </a:r>
            <a:r>
              <a:rPr lang="en-CA" sz="2800" dirty="0" smtClean="0"/>
              <a:t>on </a:t>
            </a:r>
            <a:r>
              <a:rPr lang="en-CA" sz="2800" dirty="0"/>
              <a:t>the basis of the outcomes of </a:t>
            </a:r>
            <a:r>
              <a:rPr lang="en-CA" sz="2800" dirty="0" smtClean="0"/>
              <a:t>the calibrated model.</a:t>
            </a:r>
            <a:endParaRPr lang="en-CA" sz="2500" dirty="0"/>
          </a:p>
        </p:txBody>
      </p:sp>
    </p:spTree>
    <p:extLst>
      <p:ext uri="{BB962C8B-B14F-4D97-AF65-F5344CB8AC3E}">
        <p14:creationId xmlns:p14="http://schemas.microsoft.com/office/powerpoint/2010/main" val="59492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012" y="533400"/>
            <a:ext cx="8077200" cy="1143000"/>
          </a:xfrm>
        </p:spPr>
        <p:txBody>
          <a:bodyPr>
            <a:normAutofit/>
          </a:bodyPr>
          <a:lstStyle/>
          <a:p>
            <a:pPr algn="ctr"/>
            <a:r>
              <a:rPr lang="en-CA" dirty="0" smtClean="0"/>
              <a:t>How to analyze predictability of an external model ?</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17</a:t>
            </a:fld>
            <a:endParaRPr lang="en-CA"/>
          </a:p>
        </p:txBody>
      </p:sp>
      <p:sp>
        <p:nvSpPr>
          <p:cNvPr id="6" name="Content Placeholder 2"/>
          <p:cNvSpPr txBox="1">
            <a:spLocks/>
          </p:cNvSpPr>
          <p:nvPr/>
        </p:nvSpPr>
        <p:spPr>
          <a:xfrm>
            <a:off x="1065213" y="2057400"/>
            <a:ext cx="9524999" cy="39624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spcAft>
                <a:spcPts val="1000"/>
              </a:spcAft>
              <a:buClr>
                <a:srgbClr val="00B0F0"/>
              </a:buClr>
            </a:pPr>
            <a:r>
              <a:rPr lang="en-CA" sz="2800" dirty="0" smtClean="0"/>
              <a:t>Take </a:t>
            </a:r>
            <a:r>
              <a:rPr lang="en-CA" sz="2800" dirty="0"/>
              <a:t>information from one or more </a:t>
            </a:r>
            <a:r>
              <a:rPr lang="en-CA" sz="2800" dirty="0" smtClean="0"/>
              <a:t>recently completed projects</a:t>
            </a:r>
          </a:p>
          <a:p>
            <a:pPr marL="501650" indent="-457200" algn="just">
              <a:spcAft>
                <a:spcPts val="1000"/>
              </a:spcAft>
              <a:buClr>
                <a:srgbClr val="00B0F0"/>
              </a:buClr>
            </a:pPr>
            <a:r>
              <a:rPr lang="en-CA" sz="2800" dirty="0" smtClean="0"/>
              <a:t>Use </a:t>
            </a:r>
            <a:r>
              <a:rPr lang="en-CA" sz="2800" dirty="0"/>
              <a:t>this information as inputs to the external model, and  </a:t>
            </a:r>
            <a:r>
              <a:rPr lang="en-CA" sz="2800" dirty="0" smtClean="0"/>
              <a:t>compare </a:t>
            </a:r>
            <a:r>
              <a:rPr lang="en-CA" sz="2800" dirty="0"/>
              <a:t>the results of the estimate against the actual </a:t>
            </a:r>
            <a:r>
              <a:rPr lang="en-CA" sz="2800" dirty="0" smtClean="0"/>
              <a:t>effort. </a:t>
            </a:r>
            <a:endParaRPr lang="en-CA" sz="2500" dirty="0"/>
          </a:p>
        </p:txBody>
      </p:sp>
      <p:pic>
        <p:nvPicPr>
          <p:cNvPr id="7" name="Picture 2" descr="Image result for compare 2 thing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7612" y="4343400"/>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5027612" y="6292456"/>
            <a:ext cx="2127505" cy="184666"/>
          </a:xfrm>
          <a:prstGeom prst="rect">
            <a:avLst/>
          </a:prstGeom>
        </p:spPr>
        <p:txBody>
          <a:bodyPr wrap="none">
            <a:spAutoFit/>
          </a:bodyPr>
          <a:lstStyle/>
          <a:p>
            <a:r>
              <a:rPr lang="en-CA" sz="600" dirty="0"/>
              <a:t>http://www.aliexpress.com/price/couple-things_price.html</a:t>
            </a:r>
          </a:p>
        </p:txBody>
      </p:sp>
      <p:sp>
        <p:nvSpPr>
          <p:cNvPr id="9" name="TextBox 8"/>
          <p:cNvSpPr txBox="1"/>
          <p:nvPr/>
        </p:nvSpPr>
        <p:spPr>
          <a:xfrm>
            <a:off x="5256212" y="4343400"/>
            <a:ext cx="1676400" cy="369332"/>
          </a:xfrm>
          <a:prstGeom prst="rect">
            <a:avLst/>
          </a:prstGeom>
          <a:noFill/>
        </p:spPr>
        <p:txBody>
          <a:bodyPr wrap="square" rtlCol="0">
            <a:spAutoFit/>
          </a:bodyPr>
          <a:lstStyle/>
          <a:p>
            <a:pPr algn="ctr"/>
            <a:r>
              <a:rPr lang="en-CA" dirty="0" smtClean="0">
                <a:latin typeface="Aharoni" panose="02010803020104030203" pitchFamily="2" charset="-79"/>
                <a:cs typeface="Aharoni" panose="02010803020104030203" pitchFamily="2" charset="-79"/>
              </a:rPr>
              <a:t>Compare</a:t>
            </a:r>
            <a:endParaRPr lang="en-CA"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231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4.4 Verification of the adjustment phase</a:t>
            </a:r>
            <a:endParaRPr lang="en-CA" dirty="0"/>
          </a:p>
        </p:txBody>
      </p:sp>
      <p:sp>
        <p:nvSpPr>
          <p:cNvPr id="3" name="Text Placeholder 2"/>
          <p:cNvSpPr>
            <a:spLocks noGrp="1"/>
          </p:cNvSpPr>
          <p:nvPr>
            <p:ph type="body" idx="1"/>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AEAE4A8-A6E5-453E-B946-FB774B73F48C}" type="slidenum">
              <a:rPr lang="en-CA" smtClean="0"/>
              <a:t>18</a:t>
            </a:fld>
            <a:endParaRPr lang="en-CA"/>
          </a:p>
        </p:txBody>
      </p:sp>
    </p:spTree>
    <p:extLst>
      <p:ext uri="{BB962C8B-B14F-4D97-AF65-F5344CB8AC3E}">
        <p14:creationId xmlns:p14="http://schemas.microsoft.com/office/powerpoint/2010/main" val="2974746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1" y="228600"/>
            <a:ext cx="8686801" cy="838200"/>
          </a:xfrm>
        </p:spPr>
        <p:txBody>
          <a:bodyPr>
            <a:normAutofit/>
          </a:bodyPr>
          <a:lstStyle/>
          <a:p>
            <a:pPr algn="ctr"/>
            <a:r>
              <a:rPr lang="en-CA" dirty="0" smtClean="0"/>
              <a:t>Verification of the adjustments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19</a:t>
            </a:fld>
            <a:endParaRPr lang="en-CA"/>
          </a:p>
        </p:txBody>
      </p:sp>
      <p:pic>
        <p:nvPicPr>
          <p:cNvPr id="6" name="Picture 5"/>
          <p:cNvPicPr>
            <a:picLocks noChangeAspect="1"/>
          </p:cNvPicPr>
          <p:nvPr/>
        </p:nvPicPr>
        <p:blipFill>
          <a:blip r:embed="rId2"/>
          <a:stretch>
            <a:fillRect/>
          </a:stretch>
        </p:blipFill>
        <p:spPr>
          <a:xfrm>
            <a:off x="1827212" y="1143000"/>
            <a:ext cx="8213913" cy="4962890"/>
          </a:xfrm>
          <a:prstGeom prst="rect">
            <a:avLst/>
          </a:prstGeom>
        </p:spPr>
      </p:pic>
    </p:spTree>
    <p:extLst>
      <p:ext uri="{BB962C8B-B14F-4D97-AF65-F5344CB8AC3E}">
        <p14:creationId xmlns:p14="http://schemas.microsoft.com/office/powerpoint/2010/main" val="19582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012" y="533400"/>
            <a:ext cx="8077200" cy="1143000"/>
          </a:xfrm>
        </p:spPr>
        <p:txBody>
          <a:bodyPr>
            <a:normAutofit/>
          </a:bodyPr>
          <a:lstStyle/>
          <a:p>
            <a:pPr algn="ctr"/>
            <a:r>
              <a:rPr lang="en-CA" dirty="0" smtClean="0"/>
              <a:t>Verification of adjustments: Why ?</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20</a:t>
            </a:fld>
            <a:endParaRPr lang="en-CA"/>
          </a:p>
        </p:txBody>
      </p:sp>
      <p:sp>
        <p:nvSpPr>
          <p:cNvPr id="6" name="Content Placeholder 2"/>
          <p:cNvSpPr txBox="1">
            <a:spLocks/>
          </p:cNvSpPr>
          <p:nvPr/>
        </p:nvSpPr>
        <p:spPr>
          <a:xfrm>
            <a:off x="1065213" y="2057400"/>
            <a:ext cx="9524999" cy="39624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spcAft>
                <a:spcPts val="1000"/>
              </a:spcAft>
              <a:buClr>
                <a:srgbClr val="00B0F0"/>
              </a:buClr>
            </a:pPr>
            <a:r>
              <a:rPr lang="en-CA" sz="2800" dirty="0" smtClean="0"/>
              <a:t>To </a:t>
            </a:r>
            <a:r>
              <a:rPr lang="en-CA" sz="2800" dirty="0"/>
              <a:t>identify, document, </a:t>
            </a:r>
            <a:r>
              <a:rPr lang="en-CA" sz="2800" dirty="0" smtClean="0"/>
              <a:t>&amp; ‘size’ </a:t>
            </a:r>
            <a:r>
              <a:rPr lang="en-CA" sz="2800" dirty="0"/>
              <a:t>the additional variables, </a:t>
            </a:r>
            <a:r>
              <a:rPr lang="en-CA" sz="2800" dirty="0" smtClean="0"/>
              <a:t>information &amp; constraints.</a:t>
            </a:r>
          </a:p>
          <a:p>
            <a:pPr marL="501650" indent="-457200" algn="just">
              <a:spcAft>
                <a:spcPts val="1000"/>
              </a:spcAft>
              <a:buClr>
                <a:srgbClr val="00B0F0"/>
              </a:buClr>
            </a:pPr>
            <a:r>
              <a:rPr lang="en-CA" sz="2800" dirty="0" smtClean="0"/>
              <a:t>To </a:t>
            </a:r>
            <a:r>
              <a:rPr lang="en-CA" sz="2800" dirty="0"/>
              <a:t>prepare an assessment of the individual impact of the additional </a:t>
            </a:r>
            <a:r>
              <a:rPr lang="en-CA" sz="2800" dirty="0" smtClean="0"/>
              <a:t>variables</a:t>
            </a:r>
            <a:r>
              <a:rPr lang="en-CA" sz="2800" dirty="0"/>
              <a:t>.</a:t>
            </a:r>
            <a:endParaRPr lang="en-CA" sz="2800" dirty="0" smtClean="0"/>
          </a:p>
          <a:p>
            <a:pPr marL="501650" indent="-457200" algn="just">
              <a:spcAft>
                <a:spcPts val="1000"/>
              </a:spcAft>
              <a:buClr>
                <a:srgbClr val="00B0F0"/>
              </a:buClr>
            </a:pPr>
            <a:r>
              <a:rPr lang="en-CA" sz="2800" dirty="0" smtClean="0"/>
              <a:t>To </a:t>
            </a:r>
            <a:r>
              <a:rPr lang="en-CA" sz="2800" dirty="0"/>
              <a:t>introduce </a:t>
            </a:r>
            <a:r>
              <a:rPr lang="en-CA" sz="2800" dirty="0" smtClean="0"/>
              <a:t>the </a:t>
            </a:r>
            <a:r>
              <a:rPr lang="en-CA" sz="2800" dirty="0"/>
              <a:t>adjustments to the models </a:t>
            </a:r>
            <a:r>
              <a:rPr lang="en-CA" sz="2800" dirty="0" smtClean="0"/>
              <a:t>used (in-house </a:t>
            </a:r>
            <a:r>
              <a:rPr lang="en-CA" sz="2800" dirty="0"/>
              <a:t>or </a:t>
            </a:r>
            <a:r>
              <a:rPr lang="en-CA" sz="2800" dirty="0" smtClean="0"/>
              <a:t>external). </a:t>
            </a:r>
            <a:endParaRPr lang="en-CA" sz="2500" dirty="0"/>
          </a:p>
        </p:txBody>
      </p:sp>
      <p:pic>
        <p:nvPicPr>
          <p:cNvPr id="4" name="Picture 3"/>
          <p:cNvPicPr>
            <a:picLocks noChangeAspect="1"/>
          </p:cNvPicPr>
          <p:nvPr/>
        </p:nvPicPr>
        <p:blipFill>
          <a:blip r:embed="rId2"/>
          <a:stretch>
            <a:fillRect/>
          </a:stretch>
        </p:blipFill>
        <p:spPr>
          <a:xfrm>
            <a:off x="285028" y="266700"/>
            <a:ext cx="1913659" cy="1485900"/>
          </a:xfrm>
          <a:prstGeom prst="rect">
            <a:avLst/>
          </a:prstGeom>
        </p:spPr>
      </p:pic>
    </p:spTree>
    <p:extLst>
      <p:ext uri="{BB962C8B-B14F-4D97-AF65-F5344CB8AC3E}">
        <p14:creationId xmlns:p14="http://schemas.microsoft.com/office/powerpoint/2010/main" val="1513376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4.5 Verification of the budgeting phase</a:t>
            </a:r>
            <a:endParaRPr lang="en-CA" dirty="0"/>
          </a:p>
        </p:txBody>
      </p:sp>
      <p:sp>
        <p:nvSpPr>
          <p:cNvPr id="3" name="Text Placeholder 2"/>
          <p:cNvSpPr>
            <a:spLocks noGrp="1"/>
          </p:cNvSpPr>
          <p:nvPr>
            <p:ph type="body" idx="1"/>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AEAE4A8-A6E5-453E-B946-FB774B73F48C}" type="slidenum">
              <a:rPr lang="en-CA" smtClean="0"/>
              <a:t>21</a:t>
            </a:fld>
            <a:endParaRPr lang="en-CA"/>
          </a:p>
        </p:txBody>
      </p:sp>
    </p:spTree>
    <p:extLst>
      <p:ext uri="{BB962C8B-B14F-4D97-AF65-F5344CB8AC3E}">
        <p14:creationId xmlns:p14="http://schemas.microsoft.com/office/powerpoint/2010/main" val="78006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1012" y="762000"/>
            <a:ext cx="7620000" cy="762000"/>
          </a:xfrm>
        </p:spPr>
        <p:txBody>
          <a:bodyPr>
            <a:normAutofit/>
          </a:bodyPr>
          <a:lstStyle/>
          <a:p>
            <a:pPr algn="ctr"/>
            <a:r>
              <a:rPr lang="en-CA" dirty="0" smtClean="0"/>
              <a:t>Additional considerations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22</a:t>
            </a:fld>
            <a:endParaRPr lang="en-CA"/>
          </a:p>
        </p:txBody>
      </p:sp>
      <p:sp>
        <p:nvSpPr>
          <p:cNvPr id="6" name="Content Placeholder 2"/>
          <p:cNvSpPr txBox="1">
            <a:spLocks/>
          </p:cNvSpPr>
          <p:nvPr/>
        </p:nvSpPr>
        <p:spPr>
          <a:xfrm>
            <a:off x="2436812" y="2057400"/>
            <a:ext cx="8153400" cy="39624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spcAft>
                <a:spcPts val="1000"/>
              </a:spcAft>
              <a:buClr>
                <a:srgbClr val="00B0F0"/>
              </a:buClr>
              <a:buFont typeface="Wingdings" panose="05000000000000000000" pitchFamily="2" charset="2"/>
              <a:buChar char="Ø"/>
            </a:pPr>
            <a:r>
              <a:rPr lang="en-CA" sz="2800" dirty="0" smtClean="0"/>
              <a:t>Technological</a:t>
            </a:r>
          </a:p>
          <a:p>
            <a:pPr marL="821690" lvl="1" indent="-457200" algn="just">
              <a:spcAft>
                <a:spcPts val="1000"/>
              </a:spcAft>
              <a:buClr>
                <a:srgbClr val="00B0F0"/>
              </a:buClr>
            </a:pPr>
            <a:r>
              <a:rPr lang="en-CA" sz="2600" dirty="0" smtClean="0"/>
              <a:t>A </a:t>
            </a:r>
            <a:r>
              <a:rPr lang="en-CA" sz="2600" dirty="0"/>
              <a:t>selected technology might not deliver </a:t>
            </a:r>
            <a:r>
              <a:rPr lang="en-CA" sz="2600" dirty="0" smtClean="0"/>
              <a:t>on time.</a:t>
            </a:r>
          </a:p>
          <a:p>
            <a:pPr marL="501650" indent="-457200" algn="just">
              <a:spcAft>
                <a:spcPts val="1000"/>
              </a:spcAft>
              <a:buClr>
                <a:srgbClr val="00B0F0"/>
              </a:buClr>
              <a:buFont typeface="Wingdings" panose="05000000000000000000" pitchFamily="2" charset="2"/>
              <a:buChar char="Ø"/>
            </a:pPr>
            <a:r>
              <a:rPr lang="en-CA" sz="2800" dirty="0" smtClean="0"/>
              <a:t>Organizational</a:t>
            </a:r>
          </a:p>
          <a:p>
            <a:pPr marL="821690" lvl="1" indent="-457200" algn="just">
              <a:spcAft>
                <a:spcPts val="1000"/>
              </a:spcAft>
              <a:buClr>
                <a:srgbClr val="00B0F0"/>
              </a:buClr>
            </a:pPr>
            <a:r>
              <a:rPr lang="en-CA" sz="2600" dirty="0" smtClean="0"/>
              <a:t>Key employees availability.</a:t>
            </a:r>
            <a:endParaRPr lang="en-CA" sz="2300" dirty="0"/>
          </a:p>
        </p:txBody>
      </p:sp>
      <p:pic>
        <p:nvPicPr>
          <p:cNvPr id="4" name="Picture 3"/>
          <p:cNvPicPr>
            <a:picLocks noChangeAspect="1"/>
          </p:cNvPicPr>
          <p:nvPr/>
        </p:nvPicPr>
        <p:blipFill>
          <a:blip r:embed="rId2"/>
          <a:stretch>
            <a:fillRect/>
          </a:stretch>
        </p:blipFill>
        <p:spPr>
          <a:xfrm>
            <a:off x="531812" y="354106"/>
            <a:ext cx="1676400" cy="1627094"/>
          </a:xfrm>
          <a:prstGeom prst="rect">
            <a:avLst/>
          </a:prstGeom>
        </p:spPr>
      </p:pic>
      <p:sp>
        <p:nvSpPr>
          <p:cNvPr id="7" name="Rectangle 6"/>
          <p:cNvSpPr/>
          <p:nvPr/>
        </p:nvSpPr>
        <p:spPr>
          <a:xfrm>
            <a:off x="303212" y="1872734"/>
            <a:ext cx="2138727" cy="184666"/>
          </a:xfrm>
          <a:prstGeom prst="rect">
            <a:avLst/>
          </a:prstGeom>
        </p:spPr>
        <p:txBody>
          <a:bodyPr wrap="none">
            <a:spAutoFit/>
          </a:bodyPr>
          <a:lstStyle/>
          <a:p>
            <a:r>
              <a:rPr lang="en-CA" sz="600" dirty="0"/>
              <a:t>http://www.fotosearch.com/illustration/consideration.html</a:t>
            </a:r>
          </a:p>
        </p:txBody>
      </p:sp>
    </p:spTree>
    <p:extLst>
      <p:ext uri="{BB962C8B-B14F-4D97-AF65-F5344CB8AC3E}">
        <p14:creationId xmlns:p14="http://schemas.microsoft.com/office/powerpoint/2010/main" val="1341936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4.6 Re-estimation and continuous improvement</a:t>
            </a:r>
            <a:endParaRPr lang="en-CA" dirty="0"/>
          </a:p>
        </p:txBody>
      </p:sp>
      <p:sp>
        <p:nvSpPr>
          <p:cNvPr id="3" name="Text Placeholder 2"/>
          <p:cNvSpPr>
            <a:spLocks noGrp="1"/>
          </p:cNvSpPr>
          <p:nvPr>
            <p:ph type="body" idx="1"/>
          </p:nvPr>
        </p:nvSpPr>
        <p:spPr/>
        <p:txBody>
          <a:bodyPr/>
          <a:lstStyle/>
          <a:p>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AAEAE4A8-A6E5-453E-B946-FB774B73F48C}" type="slidenum">
              <a:rPr lang="en-CA" smtClean="0"/>
              <a:t>23</a:t>
            </a:fld>
            <a:endParaRPr lang="en-CA"/>
          </a:p>
        </p:txBody>
      </p:sp>
    </p:spTree>
    <p:extLst>
      <p:ext uri="{BB962C8B-B14F-4D97-AF65-F5344CB8AC3E}">
        <p14:creationId xmlns:p14="http://schemas.microsoft.com/office/powerpoint/2010/main" val="36411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2" y="1143000"/>
            <a:ext cx="9144000" cy="762000"/>
          </a:xfrm>
        </p:spPr>
        <p:txBody>
          <a:bodyPr>
            <a:normAutofit fontScale="90000"/>
          </a:bodyPr>
          <a:lstStyle/>
          <a:p>
            <a:pPr algn="ctr"/>
            <a:r>
              <a:rPr lang="en-CA" dirty="0" smtClean="0"/>
              <a:t>What determines the improvement of the estimation process ?</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24</a:t>
            </a:fld>
            <a:endParaRPr lang="en-CA"/>
          </a:p>
        </p:txBody>
      </p:sp>
      <p:sp>
        <p:nvSpPr>
          <p:cNvPr id="6" name="Content Placeholder 2"/>
          <p:cNvSpPr txBox="1">
            <a:spLocks/>
          </p:cNvSpPr>
          <p:nvPr/>
        </p:nvSpPr>
        <p:spPr>
          <a:xfrm>
            <a:off x="2055812" y="2438400"/>
            <a:ext cx="8153400" cy="39624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spcAft>
                <a:spcPts val="1000"/>
              </a:spcAft>
              <a:buClr>
                <a:srgbClr val="00B0F0"/>
              </a:buClr>
            </a:pPr>
            <a:r>
              <a:rPr lang="en-CA" sz="2800" dirty="0" smtClean="0"/>
              <a:t>The </a:t>
            </a:r>
            <a:r>
              <a:rPr lang="en-CA" sz="2800" dirty="0"/>
              <a:t>data collected at the completion of a project </a:t>
            </a:r>
            <a:r>
              <a:rPr lang="en-CA" sz="2800" dirty="0" smtClean="0"/>
              <a:t>(no uncertainty). </a:t>
            </a:r>
          </a:p>
          <a:p>
            <a:pPr marL="501650" indent="-457200" algn="just">
              <a:spcAft>
                <a:spcPts val="1000"/>
              </a:spcAft>
              <a:buClr>
                <a:srgbClr val="00B0F0"/>
              </a:buClr>
            </a:pPr>
            <a:r>
              <a:rPr lang="en-CA" sz="2800" dirty="0" smtClean="0"/>
              <a:t>The </a:t>
            </a:r>
            <a:r>
              <a:rPr lang="en-CA" sz="2800" dirty="0"/>
              <a:t>skills of the people integrating this information into the productivity models to </a:t>
            </a:r>
            <a:r>
              <a:rPr lang="en-CA" sz="2800" dirty="0" smtClean="0"/>
              <a:t>be improved. </a:t>
            </a:r>
            <a:endParaRPr lang="en-CA" sz="2300" dirty="0"/>
          </a:p>
        </p:txBody>
      </p:sp>
    </p:spTree>
    <p:extLst>
      <p:ext uri="{BB962C8B-B14F-4D97-AF65-F5344CB8AC3E}">
        <p14:creationId xmlns:p14="http://schemas.microsoft.com/office/powerpoint/2010/main" val="1497676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0011" y="228600"/>
            <a:ext cx="8686801" cy="838200"/>
          </a:xfrm>
        </p:spPr>
        <p:txBody>
          <a:bodyPr>
            <a:normAutofit/>
          </a:bodyPr>
          <a:lstStyle/>
          <a:p>
            <a:pPr algn="ctr"/>
            <a:r>
              <a:rPr lang="en-CA" dirty="0" smtClean="0"/>
              <a:t>Estimation Process Improvement</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25</a:t>
            </a:fld>
            <a:endParaRPr lang="en-CA"/>
          </a:p>
        </p:txBody>
      </p:sp>
      <p:pic>
        <p:nvPicPr>
          <p:cNvPr id="4" name="Picture 3"/>
          <p:cNvPicPr>
            <a:picLocks noChangeAspect="1"/>
          </p:cNvPicPr>
          <p:nvPr/>
        </p:nvPicPr>
        <p:blipFill>
          <a:blip r:embed="rId2"/>
          <a:stretch>
            <a:fillRect/>
          </a:stretch>
        </p:blipFill>
        <p:spPr>
          <a:xfrm>
            <a:off x="1979612" y="1168664"/>
            <a:ext cx="7959927" cy="4851136"/>
          </a:xfrm>
          <a:prstGeom prst="rect">
            <a:avLst/>
          </a:prstGeom>
          <a:ln w="19050">
            <a:solidFill>
              <a:srgbClr val="FF0000"/>
            </a:solidFill>
          </a:ln>
        </p:spPr>
      </p:pic>
    </p:spTree>
    <p:extLst>
      <p:ext uri="{BB962C8B-B14F-4D97-AF65-F5344CB8AC3E}">
        <p14:creationId xmlns:p14="http://schemas.microsoft.com/office/powerpoint/2010/main" val="612289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1" y="324293"/>
            <a:ext cx="8877299" cy="762000"/>
          </a:xfrm>
        </p:spPr>
        <p:txBody>
          <a:bodyPr>
            <a:normAutofit/>
          </a:bodyPr>
          <a:lstStyle/>
          <a:p>
            <a:pPr algn="ctr"/>
            <a:r>
              <a:rPr lang="en-CA" dirty="0" smtClean="0"/>
              <a:t>Challenges faced to improve the models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26</a:t>
            </a:fld>
            <a:endParaRPr lang="en-CA"/>
          </a:p>
        </p:txBody>
      </p:sp>
      <p:sp>
        <p:nvSpPr>
          <p:cNvPr id="6" name="Content Placeholder 2"/>
          <p:cNvSpPr txBox="1">
            <a:spLocks/>
          </p:cNvSpPr>
          <p:nvPr/>
        </p:nvSpPr>
        <p:spPr>
          <a:xfrm>
            <a:off x="1598612" y="1219200"/>
            <a:ext cx="8877299" cy="54102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1650" indent="-457200" algn="just">
              <a:lnSpc>
                <a:spcPct val="100000"/>
              </a:lnSpc>
              <a:spcBef>
                <a:spcPts val="600"/>
              </a:spcBef>
              <a:buClr>
                <a:srgbClr val="00B0F0"/>
              </a:buClr>
            </a:pPr>
            <a:r>
              <a:rPr lang="en-CA" sz="2700" dirty="0" smtClean="0"/>
              <a:t>There </a:t>
            </a:r>
            <a:r>
              <a:rPr lang="en-CA" sz="2700" dirty="0"/>
              <a:t>is rarely a single estimated budget</a:t>
            </a:r>
            <a:r>
              <a:rPr lang="en-CA" sz="2700" dirty="0" smtClean="0"/>
              <a:t>.</a:t>
            </a:r>
          </a:p>
          <a:p>
            <a:pPr marL="1169988" lvl="1" indent="-457200" algn="just">
              <a:lnSpc>
                <a:spcPct val="100000"/>
              </a:lnSpc>
              <a:spcBef>
                <a:spcPts val="600"/>
              </a:spcBef>
              <a:spcAft>
                <a:spcPts val="1200"/>
              </a:spcAft>
              <a:buClr>
                <a:srgbClr val="00B0F0"/>
              </a:buClr>
            </a:pPr>
            <a:r>
              <a:rPr lang="en-CA" sz="2000" dirty="0" smtClean="0"/>
              <a:t>The </a:t>
            </a:r>
            <a:r>
              <a:rPr lang="en-CA" sz="2000" dirty="0"/>
              <a:t>project budget in often re-estimated a number of times over the course of the project’s life cycle</a:t>
            </a:r>
            <a:r>
              <a:rPr lang="en-CA" sz="2000" dirty="0" smtClean="0"/>
              <a:t>.</a:t>
            </a:r>
          </a:p>
          <a:p>
            <a:pPr marL="501650" indent="-457200" algn="just">
              <a:lnSpc>
                <a:spcPct val="100000"/>
              </a:lnSpc>
              <a:spcBef>
                <a:spcPts val="600"/>
              </a:spcBef>
              <a:buClr>
                <a:srgbClr val="00B0F0"/>
              </a:buClr>
            </a:pPr>
            <a:r>
              <a:rPr lang="en-CA" sz="2700" dirty="0" smtClean="0"/>
              <a:t>The </a:t>
            </a:r>
            <a:r>
              <a:rPr lang="en-CA" sz="2700" dirty="0"/>
              <a:t>information used as input to the estimation process is often not documented. </a:t>
            </a:r>
            <a:endParaRPr lang="en-CA" sz="2700" dirty="0" smtClean="0"/>
          </a:p>
          <a:p>
            <a:pPr marL="1254125" lvl="1" indent="-457200" algn="just">
              <a:lnSpc>
                <a:spcPct val="100000"/>
              </a:lnSpc>
              <a:spcBef>
                <a:spcPts val="600"/>
              </a:spcBef>
              <a:spcAft>
                <a:spcPts val="1200"/>
              </a:spcAft>
              <a:buClr>
                <a:srgbClr val="00B0F0"/>
              </a:buClr>
            </a:pPr>
            <a:r>
              <a:rPr lang="en-CA" sz="2000" dirty="0" smtClean="0"/>
              <a:t>The quality </a:t>
            </a:r>
            <a:r>
              <a:rPr lang="en-CA" sz="2000" dirty="0"/>
              <a:t>and completeness are neither recorded nor analyzed. </a:t>
            </a:r>
            <a:endParaRPr lang="en-CA" sz="2000" dirty="0" smtClean="0"/>
          </a:p>
          <a:p>
            <a:pPr marL="501650" indent="-457200" algn="just">
              <a:lnSpc>
                <a:spcPct val="100000"/>
              </a:lnSpc>
              <a:spcBef>
                <a:spcPts val="600"/>
              </a:spcBef>
              <a:spcAft>
                <a:spcPts val="1200"/>
              </a:spcAft>
              <a:buClr>
                <a:srgbClr val="00B0F0"/>
              </a:buClr>
            </a:pPr>
            <a:r>
              <a:rPr lang="en-CA" sz="2700" dirty="0" smtClean="0"/>
              <a:t>Assumptions </a:t>
            </a:r>
            <a:r>
              <a:rPr lang="en-CA" sz="2700" dirty="0"/>
              <a:t>made during the estimation process are not all documented</a:t>
            </a:r>
            <a:r>
              <a:rPr lang="en-CA" sz="2700" dirty="0" smtClean="0"/>
              <a:t>.</a:t>
            </a:r>
          </a:p>
          <a:p>
            <a:pPr marL="501650" indent="-457200" algn="just">
              <a:lnSpc>
                <a:spcPct val="100000"/>
              </a:lnSpc>
              <a:spcBef>
                <a:spcPts val="600"/>
              </a:spcBef>
              <a:spcAft>
                <a:spcPts val="1200"/>
              </a:spcAft>
              <a:buClr>
                <a:srgbClr val="00B0F0"/>
              </a:buClr>
            </a:pPr>
            <a:r>
              <a:rPr lang="en-CA" sz="2700" dirty="0" smtClean="0"/>
              <a:t>‘</a:t>
            </a:r>
            <a:r>
              <a:rPr lang="en-CA" sz="2700" dirty="0"/>
              <a:t>Scope creep’ during the life cycle is rarely measured or controlled</a:t>
            </a:r>
          </a:p>
        </p:txBody>
      </p:sp>
    </p:spTree>
    <p:extLst>
      <p:ext uri="{BB962C8B-B14F-4D97-AF65-F5344CB8AC3E}">
        <p14:creationId xmlns:p14="http://schemas.microsoft.com/office/powerpoint/2010/main" val="3115479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smtClean="0"/>
              <a:t>Topics covered</a:t>
            </a:r>
            <a:endParaRPr lang="en-US" dirty="0"/>
          </a:p>
        </p:txBody>
      </p:sp>
      <p:sp>
        <p:nvSpPr>
          <p:cNvPr id="14" name="Content Placeholder 13"/>
          <p:cNvSpPr>
            <a:spLocks noGrp="1"/>
          </p:cNvSpPr>
          <p:nvPr>
            <p:ph idx="1"/>
          </p:nvPr>
        </p:nvSpPr>
        <p:spPr>
          <a:xfrm>
            <a:off x="1065212" y="1828800"/>
            <a:ext cx="8686801" cy="3429000"/>
          </a:xfrm>
        </p:spPr>
        <p:txBody>
          <a:bodyPr>
            <a:normAutofit/>
          </a:bodyPr>
          <a:lstStyle/>
          <a:p>
            <a:pPr marL="502920" indent="-457200">
              <a:buClr>
                <a:schemeClr val="accent1"/>
              </a:buClr>
              <a:buFont typeface="+mj-lt"/>
              <a:buAutoNum type="arabicPeriod"/>
            </a:pPr>
            <a:r>
              <a:rPr lang="en-CA" sz="2400" dirty="0" smtClean="0"/>
              <a:t>Introduction</a:t>
            </a:r>
          </a:p>
          <a:p>
            <a:pPr marL="502920" indent="-457200">
              <a:buClr>
                <a:schemeClr val="accent1"/>
              </a:buClr>
              <a:buFont typeface="+mj-lt"/>
              <a:buAutoNum type="arabicPeriod"/>
            </a:pPr>
            <a:r>
              <a:rPr lang="en-CA" sz="2400" dirty="0" smtClean="0"/>
              <a:t>Verification of the inputs to the estimation process</a:t>
            </a:r>
            <a:endParaRPr lang="en-CA" sz="2400" dirty="0"/>
          </a:p>
          <a:p>
            <a:pPr marL="502920" indent="-457200">
              <a:buClr>
                <a:schemeClr val="accent1"/>
              </a:buClr>
              <a:buFont typeface="+mj-lt"/>
              <a:buAutoNum type="arabicPeriod"/>
            </a:pPr>
            <a:r>
              <a:rPr lang="en-CA" sz="2400" dirty="0"/>
              <a:t>Verification of </a:t>
            </a:r>
            <a:r>
              <a:rPr lang="en-CA" sz="2400" dirty="0" smtClean="0"/>
              <a:t>the productivity model</a:t>
            </a:r>
          </a:p>
          <a:p>
            <a:pPr marL="502920" indent="-457200">
              <a:buClr>
                <a:schemeClr val="accent1"/>
              </a:buClr>
              <a:buFont typeface="+mj-lt"/>
              <a:buAutoNum type="arabicPeriod"/>
            </a:pPr>
            <a:r>
              <a:rPr lang="en-CA" sz="2400" dirty="0" smtClean="0"/>
              <a:t>Verification of the adjustment phase</a:t>
            </a:r>
          </a:p>
          <a:p>
            <a:pPr marL="502920" indent="-457200">
              <a:buClr>
                <a:schemeClr val="accent1"/>
              </a:buClr>
              <a:buFont typeface="+mj-lt"/>
              <a:buAutoNum type="arabicPeriod"/>
            </a:pPr>
            <a:r>
              <a:rPr lang="en-CA" sz="2400" dirty="0" smtClean="0"/>
              <a:t>Verification of the budgeting phase</a:t>
            </a:r>
          </a:p>
          <a:p>
            <a:pPr marL="502920" indent="-457200">
              <a:buClr>
                <a:schemeClr val="accent1"/>
              </a:buClr>
              <a:buFont typeface="+mj-lt"/>
              <a:buAutoNum type="arabicPeriod"/>
            </a:pPr>
            <a:r>
              <a:rPr lang="en-CA" sz="2400" dirty="0" smtClean="0"/>
              <a:t>Re-estimation &amp; continuous improvement</a:t>
            </a:r>
          </a:p>
          <a:p>
            <a:pPr marL="502920" indent="-457200">
              <a:buClr>
                <a:schemeClr val="accent1"/>
              </a:buClr>
              <a:buFont typeface="+mj-lt"/>
              <a:buAutoNum type="arabicPeriod"/>
            </a:pPr>
            <a:endParaRPr lang="en-CA" sz="2400" dirty="0"/>
          </a:p>
          <a:p>
            <a:pPr marL="502920" indent="-457200">
              <a:buClr>
                <a:schemeClr val="accent1"/>
              </a:buClr>
              <a:buFont typeface="+mj-lt"/>
              <a:buAutoNum type="arabicPeriod"/>
            </a:pPr>
            <a:endParaRPr lang="en-US" sz="2400" dirty="0" smtClean="0"/>
          </a:p>
          <a:p>
            <a:pPr marL="45720" indent="0">
              <a:buNone/>
            </a:pPr>
            <a:endParaRPr lang="en-US" sz="2400" dirty="0"/>
          </a:p>
        </p:txBody>
      </p:sp>
      <p:sp>
        <p:nvSpPr>
          <p:cNvPr id="2" name="Footer Placeholder 1"/>
          <p:cNvSpPr>
            <a:spLocks noGrp="1"/>
          </p:cNvSpPr>
          <p:nvPr>
            <p:ph type="ftr" sz="quarter" idx="11"/>
          </p:nvPr>
        </p:nvSpPr>
        <p:spPr/>
        <p:txBody>
          <a:bodyPr/>
          <a:lstStyle/>
          <a:p>
            <a:r>
              <a:rPr lang="en-CA" dirty="0"/>
              <a:t>Copyright © 2015  Alain Abran </a:t>
            </a:r>
          </a:p>
        </p:txBody>
      </p:sp>
      <p:sp>
        <p:nvSpPr>
          <p:cNvPr id="3" name="Slide Number Placeholder 2"/>
          <p:cNvSpPr>
            <a:spLocks noGrp="1"/>
          </p:cNvSpPr>
          <p:nvPr>
            <p:ph type="sldNum" sz="quarter" idx="12"/>
          </p:nvPr>
        </p:nvSpPr>
        <p:spPr/>
        <p:txBody>
          <a:bodyPr/>
          <a:lstStyle/>
          <a:p>
            <a:fld id="{AAEAE4A8-A6E5-453E-B946-FB774B73F48C}" type="slidenum">
              <a:rPr lang="en-CA" smtClean="0"/>
              <a:t>27</a:t>
            </a:fld>
            <a:endParaRPr lang="en-CA" dirty="0"/>
          </a:p>
        </p:txBody>
      </p:sp>
    </p:spTree>
    <p:extLst>
      <p:ext uri="{BB962C8B-B14F-4D97-AF65-F5344CB8AC3E}">
        <p14:creationId xmlns:p14="http://schemas.microsoft.com/office/powerpoint/2010/main" val="344344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1" y="324293"/>
            <a:ext cx="8877299" cy="762000"/>
          </a:xfrm>
        </p:spPr>
        <p:txBody>
          <a:bodyPr>
            <a:normAutofit/>
          </a:bodyPr>
          <a:lstStyle/>
          <a:p>
            <a:pPr algn="ctr"/>
            <a:r>
              <a:rPr lang="en-CA" dirty="0" smtClean="0"/>
              <a:t>Exercises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28</a:t>
            </a:fld>
            <a:endParaRPr lang="en-CA"/>
          </a:p>
        </p:txBody>
      </p:sp>
      <p:sp>
        <p:nvSpPr>
          <p:cNvPr id="6" name="Content Placeholder 2"/>
          <p:cNvSpPr txBox="1">
            <a:spLocks/>
          </p:cNvSpPr>
          <p:nvPr/>
        </p:nvSpPr>
        <p:spPr>
          <a:xfrm>
            <a:off x="1598612" y="1219200"/>
            <a:ext cx="8877299" cy="54102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88620" lvl="0" indent="-342900" fontAlgn="base" hangingPunct="0">
              <a:buFont typeface="+mj-lt"/>
              <a:buAutoNum type="arabicPeriod"/>
            </a:pPr>
            <a:r>
              <a:rPr lang="en-CA" sz="1800" dirty="0"/>
              <a:t>Can all the aspects of verification be performed at the same time in an estimation process? What should the sequence of those aspects be?</a:t>
            </a:r>
            <a:endParaRPr lang="fr-CA" sz="1800" dirty="0"/>
          </a:p>
          <a:p>
            <a:pPr marL="388620" lvl="0" indent="-342900" fontAlgn="base" hangingPunct="0">
              <a:buFont typeface="+mj-lt"/>
              <a:buAutoNum type="arabicPeriod"/>
            </a:pPr>
            <a:r>
              <a:rPr lang="en-CA" sz="1800" dirty="0"/>
              <a:t>What should be included in the verification of the variables in the inputs to an estimation process?</a:t>
            </a:r>
            <a:endParaRPr lang="fr-CA" sz="1800" dirty="0"/>
          </a:p>
          <a:p>
            <a:pPr marL="388620" lvl="0" indent="-342900" fontAlgn="base" hangingPunct="0">
              <a:buFont typeface="+mj-lt"/>
              <a:buAutoNum type="arabicPeriod"/>
            </a:pPr>
            <a:r>
              <a:rPr lang="en-CA" sz="1800" dirty="0"/>
              <a:t>What should be included in the verification of the use of an in-house productivity model?</a:t>
            </a:r>
            <a:endParaRPr lang="fr-CA" sz="1800" dirty="0"/>
          </a:p>
          <a:p>
            <a:pPr marL="388620" lvl="0" indent="-342900" fontAlgn="base" hangingPunct="0">
              <a:buFont typeface="+mj-lt"/>
              <a:buAutoNum type="arabicPeriod"/>
            </a:pPr>
            <a:r>
              <a:rPr lang="en-CA" sz="1800" dirty="0"/>
              <a:t>What should be included in the verification of the use of a vendor estimation model?</a:t>
            </a:r>
            <a:endParaRPr lang="fr-CA" sz="1800" dirty="0"/>
          </a:p>
          <a:p>
            <a:pPr marL="388620" lvl="0" indent="-342900" fontAlgn="base" hangingPunct="0">
              <a:buFont typeface="+mj-lt"/>
              <a:buAutoNum type="arabicPeriod"/>
            </a:pPr>
            <a:r>
              <a:rPr lang="en-CA" sz="1800" dirty="0"/>
              <a:t>How can you verify an estimation model picked up free of charge from a book or from the Web?</a:t>
            </a:r>
            <a:endParaRPr lang="fr-CA" sz="1800" dirty="0"/>
          </a:p>
          <a:p>
            <a:pPr marL="388620" lvl="0" indent="-342900" fontAlgn="base" hangingPunct="0">
              <a:buFont typeface="+mj-lt"/>
              <a:buAutoNum type="arabicPeriod"/>
            </a:pPr>
            <a:r>
              <a:rPr lang="en-CA" sz="1800" dirty="0"/>
              <a:t>What should be verified in the Adjustment phase of the estimation process?</a:t>
            </a:r>
            <a:endParaRPr lang="fr-CA" sz="1800" dirty="0"/>
          </a:p>
          <a:p>
            <a:pPr marL="388620" lvl="0" indent="-342900" fontAlgn="base" hangingPunct="0">
              <a:buFont typeface="+mj-lt"/>
              <a:buAutoNum type="arabicPeriod"/>
            </a:pPr>
            <a:r>
              <a:rPr lang="en-CA" sz="1800" dirty="0"/>
              <a:t>What should be documented when a specific decision is made on a project budget?</a:t>
            </a:r>
            <a:endParaRPr lang="fr-CA" sz="1800" dirty="0"/>
          </a:p>
          <a:p>
            <a:pPr marL="388620" lvl="0" indent="-342900" fontAlgn="base" hangingPunct="0">
              <a:buFont typeface="+mj-lt"/>
              <a:buAutoNum type="arabicPeriod"/>
            </a:pPr>
            <a:r>
              <a:rPr lang="en-CA" sz="1800" dirty="0"/>
              <a:t>What type of information must be kept to analyze the performance of project estimates and to make improvements to the full estimation process?</a:t>
            </a:r>
            <a:endParaRPr lang="fr-CA" sz="1800" dirty="0"/>
          </a:p>
        </p:txBody>
      </p:sp>
    </p:spTree>
    <p:extLst>
      <p:ext uri="{BB962C8B-B14F-4D97-AF65-F5344CB8AC3E}">
        <p14:creationId xmlns:p14="http://schemas.microsoft.com/office/powerpoint/2010/main" val="1555364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1" y="324293"/>
            <a:ext cx="8877299" cy="762000"/>
          </a:xfrm>
        </p:spPr>
        <p:txBody>
          <a:bodyPr>
            <a:normAutofit/>
          </a:bodyPr>
          <a:lstStyle/>
          <a:p>
            <a:pPr algn="ctr"/>
            <a:r>
              <a:rPr lang="en-CA" dirty="0" smtClean="0"/>
              <a:t>Term Assignments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29</a:t>
            </a:fld>
            <a:endParaRPr lang="en-CA"/>
          </a:p>
        </p:txBody>
      </p:sp>
      <p:sp>
        <p:nvSpPr>
          <p:cNvPr id="6" name="Content Placeholder 2"/>
          <p:cNvSpPr txBox="1">
            <a:spLocks/>
          </p:cNvSpPr>
          <p:nvPr/>
        </p:nvSpPr>
        <p:spPr>
          <a:xfrm>
            <a:off x="1598612" y="1219200"/>
            <a:ext cx="8877299" cy="54102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388620" lvl="0" indent="-342900">
              <a:buFont typeface="+mj-lt"/>
              <a:buAutoNum type="arabicPeriod"/>
            </a:pPr>
            <a:r>
              <a:rPr lang="en-CA" dirty="0"/>
              <a:t>Document the quality controls in the estimation process in your organization.</a:t>
            </a:r>
            <a:endParaRPr lang="fr-CA" dirty="0"/>
          </a:p>
          <a:p>
            <a:pPr marL="388620" lvl="0" indent="-342900">
              <a:buFont typeface="+mj-lt"/>
              <a:buAutoNum type="arabicPeriod"/>
            </a:pPr>
            <a:r>
              <a:rPr lang="en-US" dirty="0"/>
              <a:t>Identify the strengths and weaknesses of your organization’s estimation process.</a:t>
            </a:r>
            <a:endParaRPr lang="fr-CA" dirty="0"/>
          </a:p>
          <a:p>
            <a:pPr marL="388620" lvl="0" indent="-342900">
              <a:buFont typeface="+mj-lt"/>
              <a:buAutoNum type="arabicPeriod"/>
            </a:pPr>
            <a:r>
              <a:rPr lang="en-US" dirty="0"/>
              <a:t>Identify the improvement priorities for your organization’s estimation process.</a:t>
            </a:r>
            <a:endParaRPr lang="fr-CA" dirty="0"/>
          </a:p>
          <a:p>
            <a:pPr marL="388620" lvl="0" indent="-342900">
              <a:buFont typeface="+mj-lt"/>
              <a:buAutoNum type="arabicPeriod"/>
            </a:pPr>
            <a:r>
              <a:rPr lang="en-US" dirty="0"/>
              <a:t>Propose an action plan to address the top 3 priorities.</a:t>
            </a:r>
            <a:endParaRPr lang="fr-CA" dirty="0"/>
          </a:p>
          <a:p>
            <a:pPr marL="388620" lvl="0" indent="-342900">
              <a:buFont typeface="+mj-lt"/>
              <a:buAutoNum type="arabicPeriod"/>
            </a:pPr>
            <a:r>
              <a:rPr lang="en-US" dirty="0"/>
              <a:t>Design a template for the quality assurance of a productivity model.</a:t>
            </a:r>
            <a:endParaRPr lang="fr-CA" dirty="0"/>
          </a:p>
          <a:p>
            <a:pPr marL="388620" lvl="0" indent="-342900" fontAlgn="base" hangingPunct="0">
              <a:buFont typeface="+mj-lt"/>
              <a:buAutoNum type="arabicPeriod"/>
            </a:pPr>
            <a:r>
              <a:rPr lang="en-US" dirty="0"/>
              <a:t>Design a template for the quality assurance of a full estimation process. </a:t>
            </a:r>
            <a:endParaRPr lang="fr-CA" dirty="0"/>
          </a:p>
          <a:p>
            <a:pPr marL="388620" lvl="0" indent="-342900" fontAlgn="base" hangingPunct="0">
              <a:buFont typeface="+mj-lt"/>
              <a:buAutoNum type="arabicPeriod"/>
            </a:pPr>
            <a:r>
              <a:rPr lang="en-US" dirty="0"/>
              <a:t>Select 3 estimation models proposed in the literature.  Even though the authors may claim that their models are to be used for estimation, are those models based on productivity studies or on opinion? If the latter, what would be your confidence level using them for estimation purposes?</a:t>
            </a:r>
            <a:endParaRPr lang="fr-CA" dirty="0"/>
          </a:p>
        </p:txBody>
      </p:sp>
    </p:spTree>
    <p:extLst>
      <p:ext uri="{BB962C8B-B14F-4D97-AF65-F5344CB8AC3E}">
        <p14:creationId xmlns:p14="http://schemas.microsoft.com/office/powerpoint/2010/main" val="62719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8611" y="324293"/>
            <a:ext cx="8877299" cy="762000"/>
          </a:xfrm>
        </p:spPr>
        <p:txBody>
          <a:bodyPr>
            <a:normAutofit/>
          </a:bodyPr>
          <a:lstStyle/>
          <a:p>
            <a:pPr algn="ctr"/>
            <a:r>
              <a:rPr lang="en-CA" dirty="0" smtClean="0"/>
              <a:t>Term Assignments</a:t>
            </a:r>
            <a:endParaRPr lang="en-CA" dirty="0"/>
          </a:p>
        </p:txBody>
      </p:sp>
      <p:sp>
        <p:nvSpPr>
          <p:cNvPr id="3" name="Footer Placeholder 2"/>
          <p:cNvSpPr>
            <a:spLocks noGrp="1"/>
          </p:cNvSpPr>
          <p:nvPr>
            <p:ph type="ftr" sz="quarter" idx="11"/>
          </p:nvPr>
        </p:nvSpPr>
        <p:spPr/>
        <p:txBody>
          <a:bodyPr/>
          <a:lstStyle/>
          <a:p>
            <a:r>
              <a:rPr lang="en-CA" dirty="0"/>
              <a:t>Copyright © 2015  Alain Abran </a:t>
            </a:r>
          </a:p>
        </p:txBody>
      </p:sp>
      <p:sp>
        <p:nvSpPr>
          <p:cNvPr id="5" name="Slide Number Placeholder 4"/>
          <p:cNvSpPr>
            <a:spLocks noGrp="1"/>
          </p:cNvSpPr>
          <p:nvPr>
            <p:ph type="sldNum" sz="quarter" idx="12"/>
          </p:nvPr>
        </p:nvSpPr>
        <p:spPr/>
        <p:txBody>
          <a:bodyPr/>
          <a:lstStyle/>
          <a:p>
            <a:fld id="{AAEAE4A8-A6E5-453E-B946-FB774B73F48C}" type="slidenum">
              <a:rPr lang="en-CA" smtClean="0"/>
              <a:t>30</a:t>
            </a:fld>
            <a:endParaRPr lang="en-CA"/>
          </a:p>
        </p:txBody>
      </p:sp>
      <p:sp>
        <p:nvSpPr>
          <p:cNvPr id="6" name="Content Placeholder 2"/>
          <p:cNvSpPr txBox="1">
            <a:spLocks/>
          </p:cNvSpPr>
          <p:nvPr/>
        </p:nvSpPr>
        <p:spPr>
          <a:xfrm>
            <a:off x="1598612" y="1219200"/>
            <a:ext cx="8877299" cy="5410200"/>
          </a:xfrm>
          <a:prstGeom prst="rect">
            <a:avLst/>
          </a:prstGeom>
        </p:spPr>
        <p:txBody>
          <a:bodyPr>
            <a:noAutofit/>
          </a:bodyPr>
          <a:lst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65000"/>
                    <a:lumOff val="3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65000"/>
                    <a:lumOff val="3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65000"/>
                    <a:lumOff val="3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65000"/>
                    <a:lumOff val="3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a:lstStyle>
          <a:p>
            <a:pPr marL="502920" lvl="0" indent="-457200" fontAlgn="base" hangingPunct="0">
              <a:buFont typeface="+mj-lt"/>
              <a:buAutoNum type="arabicPeriod" startAt="8"/>
            </a:pPr>
            <a:r>
              <a:rPr lang="en-CA" dirty="0"/>
              <a:t>Compare the verification steps in Figure 4.6 with the verification recommended in the literature on software estimation. Comment on the similarities and differences. Identify strengths and weaknesses of the model analyzed. </a:t>
            </a:r>
            <a:endParaRPr lang="fr-CA" dirty="0"/>
          </a:p>
          <a:p>
            <a:pPr marL="502920" lvl="0" indent="-457200" fontAlgn="base" hangingPunct="0">
              <a:buFont typeface="+mj-lt"/>
              <a:buAutoNum type="arabicPeriod" startAt="8"/>
            </a:pPr>
            <a:r>
              <a:rPr lang="en-CA" dirty="0"/>
              <a:t>What has been done in your organization over the past 12 months to analyze the quality of its productivity model and estimation process?  Why? Is it because estimates are (or are not) important to your organization?</a:t>
            </a:r>
            <a:endParaRPr lang="fr-CA" dirty="0"/>
          </a:p>
          <a:p>
            <a:pPr marL="502920" lvl="0" indent="-457200" fontAlgn="base" hangingPunct="0">
              <a:buFont typeface="+mj-lt"/>
              <a:buAutoNum type="arabicPeriod" startAt="8"/>
            </a:pPr>
            <a:r>
              <a:rPr lang="en-CA" dirty="0"/>
              <a:t>For estimation purposes, how would you handle </a:t>
            </a:r>
            <a:r>
              <a:rPr lang="en-CA" u="sng" dirty="0"/>
              <a:t>cost drivers</a:t>
            </a:r>
            <a:r>
              <a:rPr lang="en-CA" dirty="0"/>
              <a:t> not included in the</a:t>
            </a:r>
            <a:r>
              <a:rPr lang="en-CA" i="1" dirty="0"/>
              <a:t> </a:t>
            </a:r>
            <a:r>
              <a:rPr lang="en-CA" dirty="0"/>
              <a:t>productivity model?</a:t>
            </a:r>
            <a:endParaRPr lang="fr-CA" dirty="0"/>
          </a:p>
          <a:p>
            <a:pPr marL="502920" lvl="0" indent="-457200" fontAlgn="base" hangingPunct="0">
              <a:buFont typeface="+mj-lt"/>
              <a:buAutoNum type="arabicPeriod" startAt="8"/>
            </a:pPr>
            <a:r>
              <a:rPr lang="en-CA" dirty="0"/>
              <a:t>For estimation purposes, how would you handle </a:t>
            </a:r>
            <a:r>
              <a:rPr lang="en-CA" u="sng" dirty="0"/>
              <a:t>risk factors</a:t>
            </a:r>
            <a:r>
              <a:rPr lang="en-CA" dirty="0"/>
              <a:t> not included in the productivity model?</a:t>
            </a:r>
            <a:endParaRPr lang="fr-CA" dirty="0"/>
          </a:p>
        </p:txBody>
      </p:sp>
    </p:spTree>
    <p:extLst>
      <p:ext uri="{BB962C8B-B14F-4D97-AF65-F5344CB8AC3E}">
        <p14:creationId xmlns:p14="http://schemas.microsoft.com/office/powerpoint/2010/main" val="3624196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Business Contrast 16x9">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usinessContrast">
      <a:dk1>
        <a:srgbClr val="000000"/>
      </a:dk1>
      <a:lt1>
        <a:sysClr val="window" lastClr="FFFFFF"/>
      </a:lt1>
      <a:dk2>
        <a:srgbClr val="000000"/>
      </a:dk2>
      <a:lt2>
        <a:srgbClr val="E5E8E8"/>
      </a:lt2>
      <a:accent1>
        <a:srgbClr val="00AEEF"/>
      </a:accent1>
      <a:accent2>
        <a:srgbClr val="EA428A"/>
      </a:accent2>
      <a:accent3>
        <a:srgbClr val="EED500"/>
      </a:accent3>
      <a:accent4>
        <a:srgbClr val="F5A70D"/>
      </a:accent4>
      <a:accent5>
        <a:srgbClr val="8BCB30"/>
      </a:accent5>
      <a:accent6>
        <a:srgbClr val="9962C1"/>
      </a:accent6>
      <a:hlink>
        <a:srgbClr val="00AEEF"/>
      </a:hlink>
      <a:folHlink>
        <a:srgbClr val="9962C1"/>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3923</TotalTime>
  <Words>1317</Words>
  <Application>Microsoft Office PowerPoint</Application>
  <PresentationFormat>Personnalisé</PresentationFormat>
  <Paragraphs>192</Paragraphs>
  <Slides>30</Slides>
  <Notes>12</Notes>
  <HiddenSlides>0</HiddenSlides>
  <MMClips>0</MMClips>
  <ScaleCrop>false</ScaleCrop>
  <HeadingPairs>
    <vt:vector size="6" baseType="variant">
      <vt:variant>
        <vt:lpstr>Thème</vt:lpstr>
      </vt:variant>
      <vt:variant>
        <vt:i4>1</vt:i4>
      </vt:variant>
      <vt:variant>
        <vt:lpstr>Serveurs OLE incorporés</vt:lpstr>
      </vt:variant>
      <vt:variant>
        <vt:i4>1</vt:i4>
      </vt:variant>
      <vt:variant>
        <vt:lpstr>Titres des diapositives</vt:lpstr>
      </vt:variant>
      <vt:variant>
        <vt:i4>30</vt:i4>
      </vt:variant>
    </vt:vector>
  </HeadingPairs>
  <TitlesOfParts>
    <vt:vector size="32" baseType="lpstr">
      <vt:lpstr>Business Contrast 16x9</vt:lpstr>
      <vt:lpstr>Acrobat Document</vt:lpstr>
      <vt:lpstr>What must be verified in an estimation process: Overview (Chapter 4)</vt:lpstr>
      <vt:lpstr>Topics covered</vt:lpstr>
      <vt:lpstr>4.1 Introduction </vt:lpstr>
      <vt:lpstr>Présentation PowerPoint</vt:lpstr>
      <vt:lpstr>4.2 Verification of the inputs </vt:lpstr>
      <vt:lpstr>Identification of the estimation inputs &amp; of their quality as Inputs</vt:lpstr>
      <vt:lpstr>Product information</vt:lpstr>
      <vt:lpstr>Example: Are Function Points accurate as estimation input?</vt:lpstr>
      <vt:lpstr>Process information available?</vt:lpstr>
      <vt:lpstr>Documenting the quality of the inputs</vt:lpstr>
      <vt:lpstr>4.3 Verification of the productivity model </vt:lpstr>
      <vt:lpstr>In-house productivity models</vt:lpstr>
      <vt:lpstr>Representativeness &amp; Population sample</vt:lpstr>
      <vt:lpstr>Verification of the Productivity Model  used in an Estimation context</vt:lpstr>
      <vt:lpstr>Externally provided estimation models</vt:lpstr>
      <vt:lpstr>Considerations for Using External Models</vt:lpstr>
      <vt:lpstr>How to analyze predictability of an external model ?</vt:lpstr>
      <vt:lpstr>4.4 Verification of the adjustment phase</vt:lpstr>
      <vt:lpstr>Verification of the adjustments</vt:lpstr>
      <vt:lpstr>Verification of adjustments: Why ?</vt:lpstr>
      <vt:lpstr>4.5 Verification of the budgeting phase</vt:lpstr>
      <vt:lpstr>Additional considerations</vt:lpstr>
      <vt:lpstr>4.6 Re-estimation and continuous improvement</vt:lpstr>
      <vt:lpstr>What determines the improvement of the estimation process ?</vt:lpstr>
      <vt:lpstr>Estimation Process Improvement</vt:lpstr>
      <vt:lpstr>Challenges faced to improve the models</vt:lpstr>
      <vt:lpstr>Topics covered</vt:lpstr>
      <vt:lpstr>Exercises</vt:lpstr>
      <vt:lpstr>Term Assignments</vt:lpstr>
      <vt:lpstr>Term Assignments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Monica Katiuska Villavicencio   CAbezas</dc:creator>
  <cp:lastModifiedBy>Abran, Alain</cp:lastModifiedBy>
  <cp:revision>420</cp:revision>
  <dcterms:created xsi:type="dcterms:W3CDTF">2013-12-03T00:46:34Z</dcterms:created>
  <dcterms:modified xsi:type="dcterms:W3CDTF">2016-04-27T14:57:26Z</dcterms:modified>
</cp:coreProperties>
</file>