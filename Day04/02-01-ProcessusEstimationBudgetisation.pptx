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1"/>
  </p:notesMasterIdLst>
  <p:sldIdLst>
    <p:sldId id="256" r:id="rId2"/>
    <p:sldId id="257" r:id="rId3"/>
    <p:sldId id="258" r:id="rId4"/>
    <p:sldId id="259" r:id="rId5"/>
    <p:sldId id="260" r:id="rId6"/>
    <p:sldId id="261" r:id="rId7"/>
    <p:sldId id="262" r:id="rId8"/>
    <p:sldId id="263" r:id="rId9"/>
    <p:sldId id="268" r:id="rId10"/>
    <p:sldId id="265" r:id="rId11"/>
    <p:sldId id="266" r:id="rId12"/>
    <p:sldId id="267" r:id="rId13"/>
    <p:sldId id="269" r:id="rId14"/>
    <p:sldId id="270" r:id="rId15"/>
    <p:sldId id="271" r:id="rId16"/>
    <p:sldId id="272" r:id="rId17"/>
    <p:sldId id="273" r:id="rId18"/>
    <p:sldId id="264" r:id="rId19"/>
    <p:sldId id="274" r:id="rId20"/>
    <p:sldId id="280" r:id="rId21"/>
    <p:sldId id="275" r:id="rId22"/>
    <p:sldId id="281" r:id="rId23"/>
    <p:sldId id="282" r:id="rId24"/>
    <p:sldId id="283" r:id="rId25"/>
    <p:sldId id="277" r:id="rId26"/>
    <p:sldId id="284" r:id="rId27"/>
    <p:sldId id="278" r:id="rId28"/>
    <p:sldId id="279" r:id="rId29"/>
    <p:sldId id="285" r:id="rId30"/>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82"/>
    <p:restoredTop sz="93638" autoAdjust="0"/>
  </p:normalViewPr>
  <p:slideViewPr>
    <p:cSldViewPr snapToGrid="0" snapToObjects="1">
      <p:cViewPr varScale="1">
        <p:scale>
          <a:sx n="93" d="100"/>
          <a:sy n="93" d="100"/>
        </p:scale>
        <p:origin x="200" y="72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77A747-1B7A-5147-94C3-08804F772FAD}" type="datetimeFigureOut">
              <a:rPr lang="fr-FR" smtClean="0"/>
              <a:t>16/06/2016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3862A7-946F-3048-8568-5BA3976EEFE9}" type="slidenum">
              <a:rPr lang="fr-FR" smtClean="0"/>
              <a:t>‹#›</a:t>
            </a:fld>
            <a:endParaRPr lang="fr-FR"/>
          </a:p>
        </p:txBody>
      </p:sp>
    </p:spTree>
    <p:extLst>
      <p:ext uri="{BB962C8B-B14F-4D97-AF65-F5344CB8AC3E}">
        <p14:creationId xmlns:p14="http://schemas.microsoft.com/office/powerpoint/2010/main" val="154007439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Watts Humphrey</a:t>
            </a:r>
            <a:r>
              <a:rPr lang="fr-FR" baseline="0" dirty="0" smtClean="0"/>
              <a:t> 1988</a:t>
            </a:r>
          </a:p>
          <a:p>
            <a:r>
              <a:rPr lang="fr-FR" baseline="0" dirty="0" smtClean="0"/>
              <a:t>C’est un travail d’investigation</a:t>
            </a:r>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5</a:t>
            </a:fld>
            <a:endParaRPr lang="fr-FR"/>
          </a:p>
        </p:txBody>
      </p:sp>
    </p:spTree>
    <p:extLst>
      <p:ext uri="{BB962C8B-B14F-4D97-AF65-F5344CB8AC3E}">
        <p14:creationId xmlns:p14="http://schemas.microsoft.com/office/powerpoint/2010/main" val="3137716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Modèles de l’industrie: SPQR, SLIM, etc.</a:t>
            </a:r>
          </a:p>
          <a:p>
            <a:r>
              <a:rPr lang="fr-FR" dirty="0" smtClean="0"/>
              <a:t>Terry </a:t>
            </a:r>
            <a:r>
              <a:rPr lang="fr-FR" dirty="0" err="1" smtClean="0"/>
              <a:t>Rout</a:t>
            </a:r>
            <a:r>
              <a:rPr lang="fr-FR" dirty="0" smtClean="0"/>
              <a:t> ISBSG</a:t>
            </a:r>
          </a:p>
          <a:p>
            <a:r>
              <a:rPr lang="en-AU" noProof="0" dirty="0" smtClean="0"/>
              <a:t>Brooks Mythical Man Month</a:t>
            </a:r>
          </a:p>
          <a:p>
            <a:endParaRPr lang="en-AU" noProof="0"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6</a:t>
            </a:fld>
            <a:endParaRPr lang="fr-FR"/>
          </a:p>
        </p:txBody>
      </p:sp>
    </p:spTree>
    <p:extLst>
      <p:ext uri="{BB962C8B-B14F-4D97-AF65-F5344CB8AC3E}">
        <p14:creationId xmlns:p14="http://schemas.microsoft.com/office/powerpoint/2010/main" val="3834564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Dans ce projet on a les efforts en heures</a:t>
            </a:r>
            <a:r>
              <a:rPr lang="fr-FR" baseline="0" dirty="0" smtClean="0"/>
              <a:t> et la taille en points de fonction.  Le r carré est de ,39 ce qui rend la prédiction incertaine avec ce modèle.  </a:t>
            </a:r>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10</a:t>
            </a:fld>
            <a:endParaRPr lang="fr-FR"/>
          </a:p>
        </p:txBody>
      </p:sp>
    </p:spTree>
    <p:extLst>
      <p:ext uri="{BB962C8B-B14F-4D97-AF65-F5344CB8AC3E}">
        <p14:creationId xmlns:p14="http://schemas.microsoft.com/office/powerpoint/2010/main" val="567626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11</a:t>
            </a:fld>
            <a:endParaRPr lang="fr-FR"/>
          </a:p>
        </p:txBody>
      </p:sp>
    </p:spTree>
    <p:extLst>
      <p:ext uri="{BB962C8B-B14F-4D97-AF65-F5344CB8AC3E}">
        <p14:creationId xmlns:p14="http://schemas.microsoft.com/office/powerpoint/2010/main" val="3814876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Il faut bien documenter ce que l’on entend par haute et basse performance.</a:t>
            </a:r>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12</a:t>
            </a:fld>
            <a:endParaRPr lang="fr-FR"/>
          </a:p>
        </p:txBody>
      </p:sp>
    </p:spTree>
    <p:extLst>
      <p:ext uri="{BB962C8B-B14F-4D97-AF65-F5344CB8AC3E}">
        <p14:creationId xmlns:p14="http://schemas.microsoft.com/office/powerpoint/2010/main" val="3541763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CA" dirty="0" smtClean="0"/>
              <a:t>Expérience du chef de projet (Télécom Vancouver)</a:t>
            </a:r>
            <a:endParaRPr lang="fr-CA"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13</a:t>
            </a:fld>
            <a:endParaRPr lang="fr-FR"/>
          </a:p>
        </p:txBody>
      </p:sp>
    </p:spTree>
    <p:extLst>
      <p:ext uri="{BB962C8B-B14F-4D97-AF65-F5344CB8AC3E}">
        <p14:creationId xmlns:p14="http://schemas.microsoft.com/office/powerpoint/2010/main" val="2617795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kern="1200" dirty="0" smtClean="0">
                <a:solidFill>
                  <a:schemeClr val="tx1"/>
                </a:solidFill>
                <a:effectLst/>
                <a:latin typeface="+mn-lt"/>
                <a:ea typeface="+mn-ea"/>
                <a:cs typeface="+mn-cs"/>
              </a:rPr>
              <a:t>B. The least productive projects had the following characteristics:  </a:t>
            </a:r>
            <a:endParaRPr lang="fr-CA"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B1. Customer related issues:</a:t>
            </a:r>
            <a:endParaRPr lang="fr-CA"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Customer requirements that were poorly expressed, or a customer representative who did not know his environment (business area), leading to frequent change requests during a project life cycle. </a:t>
            </a:r>
            <a:endParaRPr lang="fr-CA"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High turnover of users involved in the projects, leading to instability in the requirements and delays in decision making.</a:t>
            </a:r>
            <a:endParaRPr lang="fr-CA"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Customers not familiar with the software development process in the organization, including their required involvement in project activities, including activity reviews.</a:t>
            </a:r>
            <a:endParaRPr lang="fr-CA"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B2. Project constraints:</a:t>
            </a:r>
            <a:endParaRPr lang="fr-CA"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Tight project deadlines for legal constraints or public face-saving that led to compressed schedule and resources being piled up to make the problem disappear.</a:t>
            </a:r>
            <a:endParaRPr lang="fr-CA" sz="1200" kern="1200" dirty="0" smtClean="0">
              <a:solidFill>
                <a:schemeClr val="tx1"/>
              </a:solidFill>
              <a:effectLst/>
              <a:latin typeface="+mn-lt"/>
              <a:ea typeface="+mn-ea"/>
              <a:cs typeface="+mn-cs"/>
            </a:endParaRPr>
          </a:p>
          <a:p>
            <a:pPr lvl="0"/>
            <a:r>
              <a:rPr lang="en-US" sz="1200" kern="1200" dirty="0" smtClean="0">
                <a:solidFill>
                  <a:schemeClr val="tx1"/>
                </a:solidFill>
                <a:effectLst/>
                <a:latin typeface="+mn-lt"/>
                <a:ea typeface="+mn-ea"/>
                <a:cs typeface="+mn-cs"/>
              </a:rPr>
              <a:t>New technologies unknown to the developers.</a:t>
            </a:r>
            <a:endParaRPr lang="fr-CA"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B3: Product constraints: Multiple links with other software applications of the organization. </a:t>
            </a:r>
            <a:endParaRPr lang="fr-CA"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 example of negative product constraint was reported for project 5, with the highest unit effort (98 hours/FP): the software delivered by this project was of a small functional size, but required twice as much effort to develop as another of software of similar size because it interacted with almost all the other software applications of the organization and was dependent on other organizational units. Another project had a very tight deadline, which led management to ‘throw’ resources at the problem to meet the deadline irrespective of the total effort required.</a:t>
            </a:r>
            <a:endParaRPr lang="fr-CA"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It can be observed that although it was possible to identify ‘qualitatively’ some factors with major negative impact, the sample size was much too small for statistical tests to quantify such impact.</a:t>
            </a:r>
            <a:endParaRPr lang="fr-CA" sz="1200" kern="1200" dirty="0" smtClean="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14</a:t>
            </a:fld>
            <a:endParaRPr lang="fr-FR"/>
          </a:p>
        </p:txBody>
      </p:sp>
    </p:spTree>
    <p:extLst>
      <p:ext uri="{BB962C8B-B14F-4D97-AF65-F5344CB8AC3E}">
        <p14:creationId xmlns:p14="http://schemas.microsoft.com/office/powerpoint/2010/main" val="1168290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Produit:</a:t>
            </a:r>
            <a:r>
              <a:rPr lang="fr-FR" baseline="0" dirty="0" smtClean="0"/>
              <a:t> exigences connues et mesure de la taille des exigences</a:t>
            </a:r>
          </a:p>
          <a:p>
            <a:r>
              <a:rPr lang="fr-FR" baseline="0" dirty="0" smtClean="0"/>
              <a:t>Processus: le processus de développement a bien réussi</a:t>
            </a:r>
          </a:p>
          <a:p>
            <a:r>
              <a:rPr lang="fr-FR" baseline="0" dirty="0" smtClean="0"/>
              <a:t>Ressources: les risques sont contrôlés et il n’y en a plus</a:t>
            </a:r>
          </a:p>
          <a:p>
            <a:r>
              <a:rPr lang="fr-FR" baseline="0" dirty="0" smtClean="0"/>
              <a:t>Modèle mathématiques: la précision du modèle mathématique est connue (white box).  Le modèle de régression indique ce que l’on peut attendre.  Les variables sont bien identifiées(causes des variations).  Donc la performance du </a:t>
            </a:r>
            <a:r>
              <a:rPr lang="fr-FR" baseline="0" dirty="0" err="1" smtClean="0"/>
              <a:t>modèele</a:t>
            </a:r>
            <a:r>
              <a:rPr lang="fr-FR" baseline="0" dirty="0" smtClean="0"/>
              <a:t> mathématique est bien décrite et analysée.  On peut réutiliser ce modèle pour différentes estimations en l’adaptant.</a:t>
            </a:r>
          </a:p>
          <a:p>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16</a:t>
            </a:fld>
            <a:endParaRPr lang="fr-FR"/>
          </a:p>
        </p:txBody>
      </p:sp>
    </p:spTree>
    <p:extLst>
      <p:ext uri="{BB962C8B-B14F-4D97-AF65-F5344CB8AC3E}">
        <p14:creationId xmlns:p14="http://schemas.microsoft.com/office/powerpoint/2010/main" val="1384382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E53862A7-946F-3048-8568-5BA3976EEFE9}" type="slidenum">
              <a:rPr lang="fr-FR" smtClean="0"/>
              <a:t>23</a:t>
            </a:fld>
            <a:endParaRPr lang="fr-FR"/>
          </a:p>
        </p:txBody>
      </p:sp>
    </p:spTree>
    <p:extLst>
      <p:ext uri="{BB962C8B-B14F-4D97-AF65-F5344CB8AC3E}">
        <p14:creationId xmlns:p14="http://schemas.microsoft.com/office/powerpoint/2010/main" val="1307190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5DACC04-557A-7E48-8E44-0870D63A31D7}" type="datetimeFigureOut">
              <a:rPr lang="fr-FR" smtClean="0"/>
              <a:t>16/06/2016</a:t>
            </a:fld>
            <a:endParaRPr lang="fr-FR"/>
          </a:p>
        </p:txBody>
      </p:sp>
      <p:sp>
        <p:nvSpPr>
          <p:cNvPr id="5" name="Footer Placeholder 4"/>
          <p:cNvSpPr>
            <a:spLocks noGrp="1"/>
          </p:cNvSpPr>
          <p:nvPr>
            <p:ph type="ftr" sz="quarter" idx="11"/>
          </p:nvPr>
        </p:nvSpPr>
        <p:spPr/>
        <p:txBody>
          <a:bodyPr/>
          <a:lstStyle/>
          <a:p>
            <a:endParaRPr lang="fr-FR"/>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41B280E4-F2DE-794E-8E02-E550848051A6}" type="slidenum">
              <a:rPr lang="fr-FR" smtClean="0"/>
              <a:t>‹#›</a:t>
            </a:fld>
            <a:endParaRPr lang="fr-FR"/>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CA" smtClean="0"/>
              <a:t>Cliquez pour modifier le style des sous-titres du masque</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fr-CA" smtClean="0"/>
              <a:t>Cliquez et modifiez le titre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Cliquez et modifiez le titre</a:t>
            </a:r>
            <a:endParaRPr lang="en-US"/>
          </a:p>
        </p:txBody>
      </p:sp>
      <p:sp>
        <p:nvSpPr>
          <p:cNvPr id="3" name="Content Placeholder 2"/>
          <p:cNvSpPr>
            <a:spLocks noGrp="1"/>
          </p:cNvSpPr>
          <p:nvPr>
            <p:ph idx="1"/>
          </p:nvPr>
        </p:nvSpPr>
        <p:spPr/>
        <p:txBody>
          <a:body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a:p>
        </p:txBody>
      </p:sp>
      <p:sp>
        <p:nvSpPr>
          <p:cNvPr id="4" name="Date Placeholder 3"/>
          <p:cNvSpPr>
            <a:spLocks noGrp="1"/>
          </p:cNvSpPr>
          <p:nvPr>
            <p:ph type="dt" sz="half" idx="10"/>
          </p:nvPr>
        </p:nvSpPr>
        <p:spPr/>
        <p:txBody>
          <a:bodyPr/>
          <a:lstStyle/>
          <a:p>
            <a:fld id="{65DACC04-557A-7E48-8E44-0870D63A31D7}" type="datetimeFigureOut">
              <a:rPr lang="fr-FR" smtClean="0"/>
              <a:t>16/06/2016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5DACC04-557A-7E48-8E44-0870D63A31D7}" type="datetimeFigureOut">
              <a:rPr lang="fr-FR" smtClean="0"/>
              <a:t>16/06/2016</a:t>
            </a:fld>
            <a:endParaRPr lang="fr-FR"/>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B280E4-F2DE-794E-8E02-E550848051A6}" type="slidenum">
              <a:rPr lang="fr-FR" smtClean="0"/>
              <a:t>‹#›</a:t>
            </a:fld>
            <a:endParaRPr lang="fr-FR"/>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fr-CA" smtClean="0"/>
              <a:t>Cliquez et modifiez le titre</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CA" smtClean="0"/>
              <a:t>Cliquez pour modifier les styles du texte du masque</a:t>
            </a:r>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fr-CA" smtClean="0"/>
              <a:t>Cliquez et modifiez le titre</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5" name="Date Placeholder 4"/>
          <p:cNvSpPr>
            <a:spLocks noGrp="1"/>
          </p:cNvSpPr>
          <p:nvPr>
            <p:ph type="dt" sz="half" idx="10"/>
          </p:nvPr>
        </p:nvSpPr>
        <p:spPr/>
        <p:txBody>
          <a:bodyPr/>
          <a:lstStyle/>
          <a:p>
            <a:fld id="{65DACC04-557A-7E48-8E44-0870D63A31D7}" type="datetimeFigureOut">
              <a:rPr lang="fr-FR" smtClean="0"/>
              <a:t>16/06/2016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fr-CA" smtClean="0"/>
              <a:t>Cliquez et modifiez le titre</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smtClean="0"/>
              <a:t>Cliquez pour modifier les styles du texte du masque</a:t>
            </a:r>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CA" smtClean="0"/>
              <a:t>Cliquez pour modifier les styles du texte du masque</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7" name="Date Placeholder 6"/>
          <p:cNvSpPr>
            <a:spLocks noGrp="1"/>
          </p:cNvSpPr>
          <p:nvPr>
            <p:ph type="dt" sz="half" idx="10"/>
          </p:nvPr>
        </p:nvSpPr>
        <p:spPr/>
        <p:txBody>
          <a:bodyPr/>
          <a:lstStyle/>
          <a:p>
            <a:fld id="{65DACC04-557A-7E48-8E44-0870D63A31D7}" type="datetimeFigureOut">
              <a:rPr lang="fr-FR" smtClean="0"/>
              <a:t>16/06/2016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Cliquez et modifiez le titre</a:t>
            </a:r>
            <a:endParaRPr lang="en-US"/>
          </a:p>
        </p:txBody>
      </p:sp>
      <p:sp>
        <p:nvSpPr>
          <p:cNvPr id="3" name="Date Placeholder 2"/>
          <p:cNvSpPr>
            <a:spLocks noGrp="1"/>
          </p:cNvSpPr>
          <p:nvPr>
            <p:ph type="dt" sz="half" idx="10"/>
          </p:nvPr>
        </p:nvSpPr>
        <p:spPr/>
        <p:txBody>
          <a:bodyPr/>
          <a:lstStyle/>
          <a:p>
            <a:fld id="{65DACC04-557A-7E48-8E44-0870D63A31D7}" type="datetimeFigureOut">
              <a:rPr lang="fr-FR" smtClean="0"/>
              <a:t>16/06/2016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65DACC04-557A-7E48-8E44-0870D63A31D7}" type="datetimeFigureOut">
              <a:rPr lang="fr-FR" smtClean="0"/>
              <a:t>16/06/2016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5" name="Date Placeholder 4"/>
          <p:cNvSpPr>
            <a:spLocks noGrp="1"/>
          </p:cNvSpPr>
          <p:nvPr>
            <p:ph type="dt" sz="half" idx="10"/>
          </p:nvPr>
        </p:nvSpPr>
        <p:spPr/>
        <p:txBody>
          <a:bodyPr/>
          <a:lstStyle/>
          <a:p>
            <a:fld id="{65DACC04-557A-7E48-8E44-0870D63A31D7}" type="datetimeFigureOut">
              <a:rPr lang="fr-FR" smtClean="0"/>
              <a:t>16/06/2016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1B280E4-F2DE-794E-8E02-E550848051A6}" type="slidenum">
              <a:rPr lang="fr-FR" smtClean="0"/>
              <a:t>‹#›</a:t>
            </a:fld>
            <a:endParaRPr lang="fr-FR"/>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smtClean="0"/>
              <a:t>Cliquez pour modifier les styles du texte du masque</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fr-CA" smtClean="0"/>
              <a:t>Cliquez et modifiez le titre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CA" smtClean="0"/>
              <a:t>Faire glisser l'image vers l'espace réservé ou cliquer sur l'icône pour l'ajouter</a:t>
            </a:r>
            <a:endParaRPr lang="en-US" dirty="0"/>
          </a:p>
        </p:txBody>
      </p:sp>
      <p:sp>
        <p:nvSpPr>
          <p:cNvPr id="5" name="Date Placeholder 4"/>
          <p:cNvSpPr>
            <a:spLocks noGrp="1"/>
          </p:cNvSpPr>
          <p:nvPr>
            <p:ph type="dt" sz="half" idx="10"/>
          </p:nvPr>
        </p:nvSpPr>
        <p:spPr/>
        <p:txBody>
          <a:bodyPr/>
          <a:lstStyle/>
          <a:p>
            <a:fld id="{65DACC04-557A-7E48-8E44-0870D63A31D7}" type="datetimeFigureOut">
              <a:rPr lang="fr-FR" smtClean="0"/>
              <a:t>16/06/2016</a:t>
            </a:fld>
            <a:endParaRPr lang="fr-FR"/>
          </a:p>
        </p:txBody>
      </p:sp>
      <p:sp>
        <p:nvSpPr>
          <p:cNvPr id="7" name="Slide Number Placeholder 6"/>
          <p:cNvSpPr>
            <a:spLocks noGrp="1"/>
          </p:cNvSpPr>
          <p:nvPr>
            <p:ph type="sldNum" sz="quarter" idx="12"/>
          </p:nvPr>
        </p:nvSpPr>
        <p:spPr/>
        <p:txBody>
          <a:bodyPr/>
          <a:lstStyle/>
          <a:p>
            <a:fld id="{41B280E4-F2DE-794E-8E02-E550848051A6}" type="slidenum">
              <a:rPr lang="fr-FR" smtClean="0"/>
              <a:t>‹#›</a:t>
            </a:fld>
            <a:endParaRPr lang="fr-FR"/>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fr-FR"/>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CA" smtClean="0"/>
              <a:t>Cliquez pour modifier les styles du texte du masque</a:t>
            </a:r>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fr-CA" smtClean="0"/>
              <a:t>Cliquez et modifiez le titre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smtClean="0"/>
              <a:t>Cliquez et modifiez le titre</a:t>
            </a:r>
            <a:endParaRPr lang="en-US"/>
          </a:p>
        </p:txBody>
      </p:sp>
      <p:sp>
        <p:nvSpPr>
          <p:cNvPr id="3" name="Vertical Text Placeholder 2"/>
          <p:cNvSpPr>
            <a:spLocks noGrp="1"/>
          </p:cNvSpPr>
          <p:nvPr>
            <p:ph type="body" orient="vert" idx="1"/>
          </p:nvPr>
        </p:nvSpPr>
        <p:spPr/>
        <p:txBody>
          <a:bodyPr vert="eaVert"/>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a:p>
        </p:txBody>
      </p:sp>
      <p:sp>
        <p:nvSpPr>
          <p:cNvPr id="4" name="Date Placeholder 3"/>
          <p:cNvSpPr>
            <a:spLocks noGrp="1"/>
          </p:cNvSpPr>
          <p:nvPr>
            <p:ph type="dt" sz="half" idx="10"/>
          </p:nvPr>
        </p:nvSpPr>
        <p:spPr/>
        <p:txBody>
          <a:bodyPr/>
          <a:lstStyle/>
          <a:p>
            <a:fld id="{65DACC04-557A-7E48-8E44-0870D63A31D7}" type="datetimeFigureOut">
              <a:rPr lang="fr-FR" smtClean="0"/>
              <a:t>16/06/2016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fr-CA" smtClean="0"/>
              <a:t>Cliquez et modifiez le titre</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4" name="Date Placeholder 3"/>
          <p:cNvSpPr>
            <a:spLocks noGrp="1"/>
          </p:cNvSpPr>
          <p:nvPr>
            <p:ph type="dt" sz="half" idx="10"/>
          </p:nvPr>
        </p:nvSpPr>
        <p:spPr/>
        <p:txBody>
          <a:bodyPr/>
          <a:lstStyle/>
          <a:p>
            <a:fld id="{65DACC04-557A-7E48-8E44-0870D63A31D7}" type="datetimeFigureOut">
              <a:rPr lang="fr-FR" smtClean="0"/>
              <a:t>16/06/2016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1B280E4-F2DE-794E-8E02-E550848051A6}" type="slidenum">
              <a:rPr lang="fr-FR" smtClean="0"/>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fr-CA" smtClean="0"/>
              <a:t>Cliquez pour modifier les styles du texte du masque</a:t>
            </a:r>
          </a:p>
          <a:p>
            <a:pPr lvl="1"/>
            <a:r>
              <a:rPr lang="fr-CA" smtClean="0"/>
              <a:t>Deuxième niveau</a:t>
            </a:r>
          </a:p>
          <a:p>
            <a:pPr lvl="2"/>
            <a:r>
              <a:rPr lang="fr-CA" smtClean="0"/>
              <a:t>Troisième niveau</a:t>
            </a:r>
          </a:p>
          <a:p>
            <a:pPr lvl="3"/>
            <a:r>
              <a:rPr lang="fr-CA" smtClean="0"/>
              <a:t>Quatrième niveau</a:t>
            </a:r>
          </a:p>
          <a:p>
            <a:pPr lvl="4"/>
            <a:r>
              <a:rPr lang="fr-CA" smtClean="0"/>
              <a:t>Cinquième niveau</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65DACC04-557A-7E48-8E44-0870D63A31D7}" type="datetimeFigureOut">
              <a:rPr lang="fr-FR" smtClean="0"/>
              <a:t>16/06/2016</a:t>
            </a:fld>
            <a:endParaRPr lang="fr-F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fr-F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41B280E4-F2DE-794E-8E02-E550848051A6}" type="slidenum">
              <a:rPr lang="fr-FR" smtClean="0"/>
              <a:t>‹#›</a:t>
            </a:fld>
            <a:endParaRPr lang="fr-FR"/>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fr-CA" smtClean="0"/>
              <a:t>Cliquez et modifiez le titre</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normAutofit fontScale="70000" lnSpcReduction="20000"/>
          </a:bodyPr>
          <a:lstStyle/>
          <a:p>
            <a:r>
              <a:rPr lang="fr-FR" dirty="0" smtClean="0"/>
              <a:t>Jean-Marc Desharnais</a:t>
            </a:r>
          </a:p>
          <a:p>
            <a:r>
              <a:rPr lang="fr-FR" dirty="0" smtClean="0"/>
              <a:t>Cours MGL-800</a:t>
            </a:r>
          </a:p>
        </p:txBody>
      </p:sp>
      <p:sp>
        <p:nvSpPr>
          <p:cNvPr id="2" name="Titre 1"/>
          <p:cNvSpPr>
            <a:spLocks noGrp="1"/>
          </p:cNvSpPr>
          <p:nvPr>
            <p:ph type="ctrTitle"/>
          </p:nvPr>
        </p:nvSpPr>
        <p:spPr/>
        <p:txBody>
          <a:bodyPr>
            <a:normAutofit fontScale="90000"/>
          </a:bodyPr>
          <a:lstStyle/>
          <a:p>
            <a:r>
              <a:rPr lang="fr-CA" sz="3200" dirty="0"/>
              <a:t>Processus de décision pour la budgétisation d'un projet et ré-estimation</a:t>
            </a:r>
            <a:r>
              <a:rPr lang="fr-CA" sz="3200" dirty="0" smtClean="0">
                <a:effectLst/>
              </a:rPr>
              <a:t> </a:t>
            </a:r>
            <a:endParaRPr lang="fr-FR" sz="3200" dirty="0"/>
          </a:p>
        </p:txBody>
      </p:sp>
      <p:sp>
        <p:nvSpPr>
          <p:cNvPr id="4" name="ZoneTexte 3"/>
          <p:cNvSpPr txBox="1"/>
          <p:nvPr/>
        </p:nvSpPr>
        <p:spPr>
          <a:xfrm>
            <a:off x="1363313" y="6240259"/>
            <a:ext cx="6458394" cy="369332"/>
          </a:xfrm>
          <a:prstGeom prst="rect">
            <a:avLst/>
          </a:prstGeom>
          <a:noFill/>
        </p:spPr>
        <p:txBody>
          <a:bodyPr wrap="none" rtlCol="0">
            <a:spAutoFit/>
          </a:bodyPr>
          <a:lstStyle/>
          <a:p>
            <a:r>
              <a:rPr lang="fr-FR" dirty="0" smtClean="0"/>
              <a:t>Inspiré du chapitre 1 du livre du Dr </a:t>
            </a:r>
            <a:r>
              <a:rPr lang="fr-FR" dirty="0" err="1" smtClean="0"/>
              <a:t>Abran</a:t>
            </a:r>
            <a:r>
              <a:rPr lang="fr-FR" dirty="0" smtClean="0"/>
              <a:t> sur l’estimation</a:t>
            </a:r>
            <a:endParaRPr lang="fr-FR" dirty="0"/>
          </a:p>
        </p:txBody>
      </p:sp>
    </p:spTree>
    <p:extLst>
      <p:ext uri="{BB962C8B-B14F-4D97-AF65-F5344CB8AC3E}">
        <p14:creationId xmlns:p14="http://schemas.microsoft.com/office/powerpoint/2010/main" val="366588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de la présentation</a:t>
            </a:r>
            <a:endParaRPr lang="fr-FR" dirty="0"/>
          </a:p>
        </p:txBody>
      </p:sp>
      <p:sp>
        <p:nvSpPr>
          <p:cNvPr id="3" name="Espace réservé du contenu 2"/>
          <p:cNvSpPr>
            <a:spLocks noGrp="1"/>
          </p:cNvSpPr>
          <p:nvPr>
            <p:ph idx="1"/>
          </p:nvPr>
        </p:nvSpPr>
        <p:spPr/>
        <p:txBody>
          <a:bodyPr/>
          <a:lstStyle/>
          <a:p>
            <a:r>
              <a:rPr lang="fr-FR" dirty="0" smtClean="0"/>
              <a:t>Processus d’estimation: phases </a:t>
            </a:r>
          </a:p>
          <a:p>
            <a:r>
              <a:rPr lang="fr-FR" dirty="0" smtClean="0"/>
              <a:t>Pratiques d’estimation faibles (processus faible)</a:t>
            </a:r>
          </a:p>
          <a:p>
            <a:pPr lvl="1"/>
            <a:r>
              <a:rPr lang="fr-FR" dirty="0" smtClean="0"/>
              <a:t>Exemples de processus d’estimation</a:t>
            </a:r>
          </a:p>
          <a:p>
            <a:pPr lvl="1"/>
            <a:r>
              <a:rPr lang="fr-FR" dirty="0" smtClean="0"/>
              <a:t>Modèles de productivité</a:t>
            </a:r>
          </a:p>
          <a:p>
            <a:pPr lvl="1"/>
            <a:r>
              <a:rPr lang="fr-FR" dirty="0" smtClean="0"/>
              <a:t>Processus d’estimation (étapes)</a:t>
            </a:r>
          </a:p>
          <a:p>
            <a:r>
              <a:rPr lang="fr-FR" dirty="0" smtClean="0"/>
              <a:t>Processus d’estimation: rôles</a:t>
            </a:r>
          </a:p>
          <a:p>
            <a:pPr lvl="1"/>
            <a:r>
              <a:rPr lang="fr-FR" dirty="0" smtClean="0"/>
              <a:t>Budget versus estimation</a:t>
            </a:r>
          </a:p>
          <a:p>
            <a:pPr lvl="1"/>
            <a:r>
              <a:rPr lang="fr-FR" dirty="0" smtClean="0"/>
              <a:t>Estimateur</a:t>
            </a:r>
          </a:p>
          <a:p>
            <a:pPr lvl="1"/>
            <a:r>
              <a:rPr lang="fr-FR" dirty="0" smtClean="0"/>
              <a:t>Gestionnaire</a:t>
            </a:r>
          </a:p>
          <a:p>
            <a:endParaRPr lang="fr-FR" dirty="0"/>
          </a:p>
        </p:txBody>
      </p:sp>
    </p:spTree>
    <p:extLst>
      <p:ext uri="{BB962C8B-B14F-4D97-AF65-F5344CB8AC3E}">
        <p14:creationId xmlns:p14="http://schemas.microsoft.com/office/powerpoint/2010/main" val="4228250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Introduction</a:t>
            </a:r>
            <a:endParaRPr lang="fr-FR" dirty="0"/>
          </a:p>
        </p:txBody>
      </p:sp>
      <p:sp>
        <p:nvSpPr>
          <p:cNvPr id="3" name="Espace réservé du contenu 2"/>
          <p:cNvSpPr>
            <a:spLocks noGrp="1"/>
          </p:cNvSpPr>
          <p:nvPr>
            <p:ph idx="1"/>
          </p:nvPr>
        </p:nvSpPr>
        <p:spPr/>
        <p:txBody>
          <a:bodyPr/>
          <a:lstStyle/>
          <a:p>
            <a:r>
              <a:rPr lang="fr-FR" dirty="0" smtClean="0"/>
              <a:t>2 approches génériques pour l’estimation</a:t>
            </a:r>
          </a:p>
          <a:p>
            <a:pPr lvl="1"/>
            <a:r>
              <a:rPr lang="fr-FR" dirty="0" smtClean="0"/>
              <a:t>Basé sur le jugement (le plus souvent)</a:t>
            </a:r>
          </a:p>
          <a:p>
            <a:pPr lvl="1"/>
            <a:r>
              <a:rPr lang="fr-FR" dirty="0" smtClean="0"/>
              <a:t>Basé sur un processus d’ingénierie (ce qui sera décrit ici)</a:t>
            </a:r>
          </a:p>
          <a:p>
            <a:endParaRPr lang="fr-FR" dirty="0"/>
          </a:p>
        </p:txBody>
      </p:sp>
    </p:spTree>
    <p:extLst>
      <p:ext uri="{BB962C8B-B14F-4D97-AF65-F5344CB8AC3E}">
        <p14:creationId xmlns:p14="http://schemas.microsoft.com/office/powerpoint/2010/main" val="19388524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Techniques basées sur le jugement</a:t>
            </a:r>
            <a:endParaRPr lang="fr-FR" dirty="0"/>
          </a:p>
        </p:txBody>
      </p:sp>
      <p:sp>
        <p:nvSpPr>
          <p:cNvPr id="3" name="Espace réservé du contenu 2"/>
          <p:cNvSpPr>
            <a:spLocks noGrp="1"/>
          </p:cNvSpPr>
          <p:nvPr>
            <p:ph idx="1"/>
          </p:nvPr>
        </p:nvSpPr>
        <p:spPr/>
        <p:txBody>
          <a:bodyPr/>
          <a:lstStyle/>
          <a:p>
            <a:r>
              <a:rPr lang="fr-FR" dirty="0" smtClean="0"/>
              <a:t>Non existence (ou très peu) d’informations sur les projets passés</a:t>
            </a:r>
          </a:p>
          <a:p>
            <a:r>
              <a:rPr lang="fr-FR" dirty="0" smtClean="0"/>
              <a:t>Basé sur l’expérience de celui qui fait l’estimation (jugement de l’expert)</a:t>
            </a:r>
          </a:p>
          <a:p>
            <a:r>
              <a:rPr lang="fr-FR" dirty="0" smtClean="0"/>
              <a:t>Projet réussi s’il respecte le budget </a:t>
            </a:r>
          </a:p>
          <a:p>
            <a:pPr lvl="1"/>
            <a:r>
              <a:rPr lang="fr-FR" dirty="0" smtClean="0"/>
              <a:t>pendant le projet on ne sait pas ce qui a vraiment été réalisé sauf le montant dépensé (syndrome du 90% finalisé)</a:t>
            </a:r>
          </a:p>
          <a:p>
            <a:pPr lvl="1"/>
            <a:r>
              <a:rPr lang="fr-FR" dirty="0" smtClean="0"/>
              <a:t>à la fin du projet il est difficile de dire si toutes les fonctions ont été livrées, sans considérer l’aspect de la qualité</a:t>
            </a:r>
          </a:p>
          <a:p>
            <a:pPr lvl="1"/>
            <a:r>
              <a:rPr lang="fr-FR" dirty="0" smtClean="0"/>
              <a:t>donc</a:t>
            </a:r>
            <a:r>
              <a:rPr lang="fr-FR" b="1" u="sng" dirty="0" smtClean="0"/>
              <a:t> faux</a:t>
            </a:r>
          </a:p>
          <a:p>
            <a:endParaRPr lang="fr-FR" dirty="0"/>
          </a:p>
        </p:txBody>
      </p:sp>
    </p:spTree>
    <p:extLst>
      <p:ext uri="{BB962C8B-B14F-4D97-AF65-F5344CB8AC3E}">
        <p14:creationId xmlns:p14="http://schemas.microsoft.com/office/powerpoint/2010/main" val="35170390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Processus d’ingénierie pour L’estimation</a:t>
            </a:r>
            <a:endParaRPr lang="fr-FR" dirty="0"/>
          </a:p>
        </p:txBody>
      </p:sp>
      <p:sp>
        <p:nvSpPr>
          <p:cNvPr id="3" name="Espace réservé du contenu 2"/>
          <p:cNvSpPr>
            <a:spLocks noGrp="1"/>
          </p:cNvSpPr>
          <p:nvPr>
            <p:ph idx="1"/>
          </p:nvPr>
        </p:nvSpPr>
        <p:spPr/>
        <p:txBody>
          <a:bodyPr>
            <a:normAutofit fontScale="92500" lnSpcReduction="10000"/>
          </a:bodyPr>
          <a:lstStyle/>
          <a:p>
            <a:r>
              <a:rPr lang="fr-FR" dirty="0" smtClean="0"/>
              <a:t>Basé sur des observations quantitatives passées</a:t>
            </a:r>
          </a:p>
          <a:p>
            <a:pPr lvl="1"/>
            <a:r>
              <a:rPr lang="fr-FR" dirty="0" smtClean="0"/>
              <a:t>mesure de ce qui a été livré</a:t>
            </a:r>
          </a:p>
          <a:p>
            <a:pPr lvl="1"/>
            <a:r>
              <a:rPr lang="fr-FR" dirty="0" smtClean="0"/>
              <a:t>connaissance des coûts</a:t>
            </a:r>
          </a:p>
          <a:p>
            <a:pPr lvl="1"/>
            <a:r>
              <a:rPr lang="fr-FR" dirty="0" smtClean="0"/>
              <a:t>mesure de la qualité des résultats</a:t>
            </a:r>
          </a:p>
          <a:p>
            <a:pPr lvl="1"/>
            <a:r>
              <a:rPr lang="fr-FR" dirty="0" smtClean="0"/>
              <a:t>et d’autres variables</a:t>
            </a:r>
          </a:p>
          <a:p>
            <a:r>
              <a:rPr lang="fr-FR" dirty="0" smtClean="0"/>
              <a:t>Considérer peu de variables  la fois </a:t>
            </a:r>
          </a:p>
          <a:p>
            <a:pPr lvl="1"/>
            <a:r>
              <a:rPr lang="fr-FR" dirty="0" smtClean="0"/>
              <a:t>Analyser les projets passés</a:t>
            </a:r>
          </a:p>
          <a:p>
            <a:pPr lvl="1"/>
            <a:r>
              <a:rPr lang="fr-FR" dirty="0" smtClean="0"/>
              <a:t>Analyser l’impact des variables une à la fois (taille, outils, expérience, environnement, etc.)</a:t>
            </a:r>
          </a:p>
          <a:p>
            <a:pPr lvl="1"/>
            <a:r>
              <a:rPr lang="fr-FR" dirty="0" smtClean="0"/>
              <a:t>S’assurer que l’échantillon est pertinent</a:t>
            </a:r>
          </a:p>
          <a:p>
            <a:pPr lvl="1"/>
            <a:r>
              <a:rPr lang="fr-FR" dirty="0" smtClean="0"/>
              <a:t>Bonne documentation de ce qui est échantillonné</a:t>
            </a:r>
          </a:p>
          <a:p>
            <a:pPr lvl="1"/>
            <a:r>
              <a:rPr lang="fr-FR" dirty="0" smtClean="0"/>
              <a:t>Tenir compte du contexte des données récoltées</a:t>
            </a:r>
          </a:p>
          <a:p>
            <a:r>
              <a:rPr lang="fr-FR" dirty="0" smtClean="0"/>
              <a:t>Il peut y avoir plus d’un modèle de productivité</a:t>
            </a:r>
          </a:p>
          <a:p>
            <a:pPr lvl="1"/>
            <a:endParaRPr lang="fr-FR" dirty="0" smtClean="0"/>
          </a:p>
        </p:txBody>
      </p:sp>
    </p:spTree>
    <p:extLst>
      <p:ext uri="{BB962C8B-B14F-4D97-AF65-F5344CB8AC3E}">
        <p14:creationId xmlns:p14="http://schemas.microsoft.com/office/powerpoint/2010/main" val="32427197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Pratiques pauvres</a:t>
            </a:r>
            <a:endParaRPr lang="fr-FR" dirty="0"/>
          </a:p>
        </p:txBody>
      </p:sp>
      <p:sp>
        <p:nvSpPr>
          <p:cNvPr id="3" name="Espace réservé du contenu 2"/>
          <p:cNvSpPr>
            <a:spLocks noGrp="1"/>
          </p:cNvSpPr>
          <p:nvPr>
            <p:ph idx="1"/>
          </p:nvPr>
        </p:nvSpPr>
        <p:spPr/>
        <p:txBody>
          <a:bodyPr>
            <a:normAutofit lnSpcReduction="10000"/>
          </a:bodyPr>
          <a:lstStyle/>
          <a:p>
            <a:r>
              <a:rPr lang="fr-FR" dirty="0" smtClean="0"/>
              <a:t>Input pour l’estimation</a:t>
            </a:r>
          </a:p>
          <a:p>
            <a:pPr lvl="1"/>
            <a:r>
              <a:rPr lang="fr-FR" dirty="0" smtClean="0"/>
              <a:t>les exigences sont une liste de souhaits</a:t>
            </a:r>
          </a:p>
          <a:p>
            <a:pPr lvl="1"/>
            <a:r>
              <a:rPr lang="fr-FR" dirty="0" smtClean="0"/>
              <a:t>on anticipe un processus de développement optimum</a:t>
            </a:r>
          </a:p>
          <a:p>
            <a:pPr lvl="1"/>
            <a:r>
              <a:rPr lang="fr-FR" dirty="0" smtClean="0"/>
              <a:t>on est trop optimiste concernant les contraintes</a:t>
            </a:r>
          </a:p>
          <a:p>
            <a:r>
              <a:rPr lang="fr-FR" dirty="0" smtClean="0"/>
              <a:t>Modèle d’estimation</a:t>
            </a:r>
          </a:p>
          <a:p>
            <a:pPr lvl="1"/>
            <a:r>
              <a:rPr lang="fr-FR" dirty="0" smtClean="0"/>
              <a:t>Basé sur un jugement d’expert</a:t>
            </a:r>
          </a:p>
          <a:p>
            <a:pPr lvl="1"/>
            <a:r>
              <a:rPr lang="fr-FR" dirty="0" smtClean="0"/>
              <a:t>Au mieux une boite noire </a:t>
            </a:r>
          </a:p>
          <a:p>
            <a:pPr lvl="2"/>
            <a:r>
              <a:rPr lang="fr-FR" dirty="0" smtClean="0"/>
              <a:t>modèles empruntés à l’industrie avec des formules mathématiques cachées dans un outil logiciel</a:t>
            </a:r>
          </a:p>
          <a:p>
            <a:r>
              <a:rPr lang="fr-FR" dirty="0" smtClean="0"/>
              <a:t>Output de l’estimation (</a:t>
            </a:r>
            <a:r>
              <a:rPr lang="fr-FR" sz="1600" dirty="0" smtClean="0"/>
              <a:t>espoir d’un miracle)</a:t>
            </a:r>
          </a:p>
          <a:p>
            <a:pPr lvl="1"/>
            <a:r>
              <a:rPr lang="fr-FR" sz="1600" dirty="0" smtClean="0"/>
              <a:t>une seule estimation</a:t>
            </a:r>
          </a:p>
          <a:p>
            <a:pPr lvl="1"/>
            <a:r>
              <a:rPr lang="fr-FR" sz="1600" dirty="0" smtClean="0"/>
              <a:t>on est optimiste (Brooks)</a:t>
            </a:r>
          </a:p>
          <a:p>
            <a:pPr lvl="1"/>
            <a:r>
              <a:rPr lang="fr-FR" sz="1600" dirty="0" smtClean="0"/>
              <a:t>respect du budget et des attentes (peu de contrôle)</a:t>
            </a:r>
          </a:p>
        </p:txBody>
      </p:sp>
    </p:spTree>
    <p:extLst>
      <p:ext uri="{BB962C8B-B14F-4D97-AF65-F5344CB8AC3E}">
        <p14:creationId xmlns:p14="http://schemas.microsoft.com/office/powerpoint/2010/main" val="39669528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Résultats des estimations</a:t>
            </a:r>
            <a:endParaRPr lang="fr-FR" dirty="0"/>
          </a:p>
        </p:txBody>
      </p:sp>
      <p:sp>
        <p:nvSpPr>
          <p:cNvPr id="3" name="Espace réservé du contenu 2"/>
          <p:cNvSpPr>
            <a:spLocks noGrp="1"/>
          </p:cNvSpPr>
          <p:nvPr>
            <p:ph idx="1"/>
          </p:nvPr>
        </p:nvSpPr>
        <p:spPr/>
        <p:txBody>
          <a:bodyPr>
            <a:normAutofit fontScale="92500" lnSpcReduction="20000"/>
          </a:bodyPr>
          <a:lstStyle/>
          <a:p>
            <a:r>
              <a:rPr lang="fr-FR" dirty="0" smtClean="0"/>
              <a:t>Selon le </a:t>
            </a:r>
            <a:r>
              <a:rPr lang="fr-FR" dirty="0" err="1" smtClean="0"/>
              <a:t>Standish</a:t>
            </a:r>
            <a:r>
              <a:rPr lang="fr-FR" dirty="0" smtClean="0"/>
              <a:t> Group le taux de succès des projets est le suivant entre 1994 et 2009:</a:t>
            </a:r>
          </a:p>
          <a:p>
            <a:pPr lvl="1"/>
            <a:r>
              <a:rPr lang="fr-FR" dirty="0" smtClean="0"/>
              <a:t>environ 15 à 30% des projets ont réussis</a:t>
            </a:r>
          </a:p>
          <a:p>
            <a:pPr lvl="1"/>
            <a:r>
              <a:rPr lang="fr-FR" dirty="0" smtClean="0"/>
              <a:t>environ 20 à 40% des projets ont échoués</a:t>
            </a:r>
          </a:p>
          <a:p>
            <a:pPr lvl="1"/>
            <a:r>
              <a:rPr lang="fr-FR" dirty="0" smtClean="0"/>
              <a:t>environ 50% des projets ont une une réussite mitigée</a:t>
            </a:r>
          </a:p>
          <a:p>
            <a:r>
              <a:rPr lang="fr-FR" dirty="0" smtClean="0"/>
              <a:t>Aspect positif: il y a eu une ‘amélioration’ </a:t>
            </a:r>
            <a:r>
              <a:rPr lang="fr-FR" dirty="0"/>
              <a:t>des réussites depuis </a:t>
            </a:r>
            <a:r>
              <a:rPr lang="fr-FR" dirty="0" smtClean="0"/>
              <a:t>1995 (ici réussite veut dire livré).</a:t>
            </a:r>
          </a:p>
          <a:p>
            <a:r>
              <a:rPr lang="fr-FR" dirty="0"/>
              <a:t>Une étude de de El </a:t>
            </a:r>
            <a:r>
              <a:rPr lang="fr-FR" dirty="0" err="1"/>
              <a:t>Eman</a:t>
            </a:r>
            <a:r>
              <a:rPr lang="fr-FR" dirty="0"/>
              <a:t> et </a:t>
            </a:r>
            <a:r>
              <a:rPr lang="fr-FR" dirty="0" err="1"/>
              <a:t>Koru</a:t>
            </a:r>
            <a:r>
              <a:rPr lang="fr-FR" dirty="0"/>
              <a:t> en 2008 indique qu’au moins 50% des projets ont échoué ou pas livrés ce qui devait être livré.</a:t>
            </a:r>
          </a:p>
          <a:p>
            <a:r>
              <a:rPr lang="fr-FR" dirty="0" smtClean="0"/>
              <a:t>Si on considère que réussite veut dire livré, en temps et selon les budgets, on a un taux nettement plus bas</a:t>
            </a:r>
          </a:p>
          <a:p>
            <a:r>
              <a:rPr lang="fr-FR" dirty="0" smtClean="0"/>
              <a:t>Dans ce cas, seulement 30% des projets sont livrés en temps et en respectant les budgets</a:t>
            </a:r>
            <a:endParaRPr lang="fr-FR" dirty="0"/>
          </a:p>
          <a:p>
            <a:pPr marL="411480" lvl="1" indent="0">
              <a:buNone/>
            </a:pPr>
            <a:endParaRPr lang="fr-FR" dirty="0"/>
          </a:p>
        </p:txBody>
      </p:sp>
    </p:spTree>
    <p:extLst>
      <p:ext uri="{BB962C8B-B14F-4D97-AF65-F5344CB8AC3E}">
        <p14:creationId xmlns:p14="http://schemas.microsoft.com/office/powerpoint/2010/main" val="29760397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Modèles de productivité</a:t>
            </a:r>
            <a:endParaRPr lang="fr-FR" dirty="0"/>
          </a:p>
        </p:txBody>
      </p:sp>
      <p:sp>
        <p:nvSpPr>
          <p:cNvPr id="3" name="Espace réservé du contenu 2"/>
          <p:cNvSpPr>
            <a:spLocks noGrp="1"/>
          </p:cNvSpPr>
          <p:nvPr>
            <p:ph idx="1"/>
          </p:nvPr>
        </p:nvSpPr>
        <p:spPr/>
        <p:txBody>
          <a:bodyPr/>
          <a:lstStyle/>
          <a:p>
            <a:r>
              <a:rPr lang="fr-FR" dirty="0"/>
              <a:t>Incertitudes et modèle de productivité</a:t>
            </a:r>
          </a:p>
          <a:p>
            <a:r>
              <a:rPr lang="fr-FR" dirty="0" smtClean="0"/>
              <a:t>Comment construire un modèle de productivité?</a:t>
            </a:r>
          </a:p>
          <a:p>
            <a:endParaRPr lang="fr-FR" dirty="0"/>
          </a:p>
        </p:txBody>
      </p:sp>
    </p:spTree>
    <p:extLst>
      <p:ext uri="{BB962C8B-B14F-4D97-AF65-F5344CB8AC3E}">
        <p14:creationId xmlns:p14="http://schemas.microsoft.com/office/powerpoint/2010/main" val="8525595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Incertitude du modèle de productivité (exemple)</a:t>
            </a:r>
            <a:endParaRPr lang="fr-FR" dirty="0"/>
          </a:p>
        </p:txBody>
      </p:sp>
      <p:pic>
        <p:nvPicPr>
          <p:cNvPr id="4" name="Espace réservé du contenu 3" descr="Capture d'écran 2015-04-02 14.23.43.png"/>
          <p:cNvPicPr>
            <a:picLocks noGrp="1" noChangeAspect="1"/>
          </p:cNvPicPr>
          <p:nvPr>
            <p:ph idx="1"/>
          </p:nvPr>
        </p:nvPicPr>
        <p:blipFill>
          <a:blip r:embed="rId2">
            <a:extLst>
              <a:ext uri="{28A0092B-C50C-407E-A947-70E740481C1C}">
                <a14:useLocalDpi xmlns:a14="http://schemas.microsoft.com/office/drawing/2010/main" val="0"/>
              </a:ext>
            </a:extLst>
          </a:blip>
          <a:srcRect l="-8715" r="-8715"/>
          <a:stretch>
            <a:fillRect/>
          </a:stretch>
        </p:blipFill>
        <p:spPr/>
      </p:pic>
    </p:spTree>
    <p:extLst>
      <p:ext uri="{BB962C8B-B14F-4D97-AF65-F5344CB8AC3E}">
        <p14:creationId xmlns:p14="http://schemas.microsoft.com/office/powerpoint/2010/main" val="21644541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Incertitude du modèle quantifié</a:t>
            </a:r>
            <a:endParaRPr lang="fr-FR" dirty="0"/>
          </a:p>
        </p:txBody>
      </p:sp>
      <p:pic>
        <p:nvPicPr>
          <p:cNvPr id="6" name="Espace réservé du contenu 5" descr="Capture d’écran 2015-04-02 à 14.07.51.png"/>
          <p:cNvPicPr>
            <a:picLocks noGrp="1" noChangeAspect="1"/>
          </p:cNvPicPr>
          <p:nvPr>
            <p:ph idx="1"/>
          </p:nvPr>
        </p:nvPicPr>
        <p:blipFill>
          <a:blip r:embed="rId3">
            <a:extLst>
              <a:ext uri="{28A0092B-C50C-407E-A947-70E740481C1C}">
                <a14:useLocalDpi xmlns:a14="http://schemas.microsoft.com/office/drawing/2010/main" val="0"/>
              </a:ext>
            </a:extLst>
          </a:blip>
          <a:srcRect l="-11452" r="-11452"/>
          <a:stretch>
            <a:fillRect/>
          </a:stretch>
        </p:blipFill>
        <p:spPr>
          <a:xfrm>
            <a:off x="457200" y="1752600"/>
            <a:ext cx="8229600" cy="4373563"/>
          </a:xfrm>
        </p:spPr>
      </p:pic>
    </p:spTree>
    <p:extLst>
      <p:ext uri="{BB962C8B-B14F-4D97-AF65-F5344CB8AC3E}">
        <p14:creationId xmlns:p14="http://schemas.microsoft.com/office/powerpoint/2010/main" val="421515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Réduire l’incertitude (1)</a:t>
            </a:r>
            <a:endParaRPr lang="fr-FR" dirty="0"/>
          </a:p>
        </p:txBody>
      </p:sp>
      <p:pic>
        <p:nvPicPr>
          <p:cNvPr id="4" name="Espace réservé du contenu 3" descr="Capture d'écran 2015-04-02 14.15.33.png"/>
          <p:cNvPicPr>
            <a:picLocks noGrp="1" noChangeAspect="1"/>
          </p:cNvPicPr>
          <p:nvPr>
            <p:ph idx="1"/>
          </p:nvPr>
        </p:nvPicPr>
        <p:blipFill>
          <a:blip r:embed="rId3">
            <a:extLst>
              <a:ext uri="{28A0092B-C50C-407E-A947-70E740481C1C}">
                <a14:useLocalDpi xmlns:a14="http://schemas.microsoft.com/office/drawing/2010/main" val="0"/>
              </a:ext>
            </a:extLst>
          </a:blip>
          <a:srcRect t="-8785" b="-8785"/>
          <a:stretch>
            <a:fillRect/>
          </a:stretch>
        </p:blipFill>
        <p:spPr/>
      </p:pic>
    </p:spTree>
    <p:extLst>
      <p:ext uri="{BB962C8B-B14F-4D97-AF65-F5344CB8AC3E}">
        <p14:creationId xmlns:p14="http://schemas.microsoft.com/office/powerpoint/2010/main" val="3897879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Réduire l’incertitude (2)</a:t>
            </a:r>
            <a:endParaRPr lang="fr-FR" dirty="0"/>
          </a:p>
        </p:txBody>
      </p:sp>
      <p:pic>
        <p:nvPicPr>
          <p:cNvPr id="4" name="Espace réservé du contenu 3" descr="Capture d'écran 2015-04-02 14.15.50.png"/>
          <p:cNvPicPr>
            <a:picLocks noGrp="1" noChangeAspect="1"/>
          </p:cNvPicPr>
          <p:nvPr>
            <p:ph idx="1"/>
          </p:nvPr>
        </p:nvPicPr>
        <p:blipFill>
          <a:blip r:embed="rId3">
            <a:extLst>
              <a:ext uri="{28A0092B-C50C-407E-A947-70E740481C1C}">
                <a14:useLocalDpi xmlns:a14="http://schemas.microsoft.com/office/drawing/2010/main" val="0"/>
              </a:ext>
            </a:extLst>
          </a:blip>
          <a:srcRect t="311" b="311"/>
          <a:stretch>
            <a:fillRect/>
          </a:stretch>
        </p:blipFill>
        <p:spPr/>
      </p:pic>
    </p:spTree>
    <p:extLst>
      <p:ext uri="{BB962C8B-B14F-4D97-AF65-F5344CB8AC3E}">
        <p14:creationId xmlns:p14="http://schemas.microsoft.com/office/powerpoint/2010/main" val="32390505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smtClean="0"/>
              <a:t>Pourquoi plus productif</a:t>
            </a:r>
            <a:endParaRPr lang="fr-FR" dirty="0"/>
          </a:p>
        </p:txBody>
      </p:sp>
      <p:sp>
        <p:nvSpPr>
          <p:cNvPr id="3" name="Espace réservé du contenu 2"/>
          <p:cNvSpPr>
            <a:spLocks noGrp="1"/>
          </p:cNvSpPr>
          <p:nvPr>
            <p:ph idx="1"/>
          </p:nvPr>
        </p:nvSpPr>
        <p:spPr/>
        <p:txBody>
          <a:bodyPr/>
          <a:lstStyle/>
          <a:p>
            <a:r>
              <a:rPr lang="fr-CA" dirty="0" smtClean="0"/>
              <a:t>Plus productif:</a:t>
            </a:r>
          </a:p>
          <a:p>
            <a:pPr lvl="1"/>
            <a:r>
              <a:rPr lang="fr-CA" dirty="0" smtClean="0"/>
              <a:t>Utilisateur familier avec les affaires et le processus de développement de l’organisation</a:t>
            </a:r>
          </a:p>
          <a:p>
            <a:pPr lvl="1"/>
            <a:r>
              <a:rPr lang="fr-CA" dirty="0" smtClean="0"/>
              <a:t>Utilisateur impliqué pendant tout le projet</a:t>
            </a:r>
          </a:p>
          <a:p>
            <a:pPr lvl="1"/>
            <a:r>
              <a:rPr lang="fr-CA" dirty="0" smtClean="0"/>
              <a:t>Bonne expérience des développeurs de l’environnement de développement</a:t>
            </a:r>
          </a:p>
          <a:p>
            <a:r>
              <a:rPr lang="fr-CA" dirty="0" smtClean="0"/>
              <a:t>Informations supplémentaires souhaitables</a:t>
            </a:r>
          </a:p>
          <a:p>
            <a:pPr lvl="1"/>
            <a:r>
              <a:rPr lang="fr-CA" dirty="0" smtClean="0"/>
              <a:t>les outils spécifiques utilisés</a:t>
            </a:r>
          </a:p>
          <a:p>
            <a:pPr lvl="1"/>
            <a:r>
              <a:rPr lang="fr-CA" dirty="0" smtClean="0"/>
              <a:t>l’environnement de développement</a:t>
            </a:r>
          </a:p>
          <a:p>
            <a:pPr lvl="1"/>
            <a:r>
              <a:rPr lang="fr-CA" dirty="0" smtClean="0"/>
              <a:t>l’expérience du chef de projet</a:t>
            </a:r>
          </a:p>
          <a:p>
            <a:endParaRPr lang="fr-FR" dirty="0"/>
          </a:p>
        </p:txBody>
      </p:sp>
    </p:spTree>
    <p:extLst>
      <p:ext uri="{BB962C8B-B14F-4D97-AF65-F5344CB8AC3E}">
        <p14:creationId xmlns:p14="http://schemas.microsoft.com/office/powerpoint/2010/main" val="25963164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Pourquoi moins productif</a:t>
            </a:r>
            <a:endParaRPr lang="fr-FR" dirty="0"/>
          </a:p>
        </p:txBody>
      </p:sp>
      <p:sp>
        <p:nvSpPr>
          <p:cNvPr id="3" name="Espace réservé du contenu 2"/>
          <p:cNvSpPr>
            <a:spLocks noGrp="1"/>
          </p:cNvSpPr>
          <p:nvPr>
            <p:ph idx="1"/>
          </p:nvPr>
        </p:nvSpPr>
        <p:spPr/>
        <p:txBody>
          <a:bodyPr/>
          <a:lstStyle/>
          <a:p>
            <a:r>
              <a:rPr lang="fr-FR" dirty="0" smtClean="0"/>
              <a:t>Moins productif:</a:t>
            </a:r>
          </a:p>
          <a:p>
            <a:pPr lvl="1"/>
            <a:r>
              <a:rPr lang="fr-FR" dirty="0" smtClean="0"/>
              <a:t>Représentant du client connait peu l’environnement et les exigences mal formulées.  Souvent le représentant est nouveau et peu impliqué dans la révision des besoins.</a:t>
            </a:r>
          </a:p>
          <a:p>
            <a:pPr lvl="1"/>
            <a:r>
              <a:rPr lang="fr-FR" dirty="0" smtClean="0"/>
              <a:t>Turnover élevé du personnel de développement pendant le projet.</a:t>
            </a:r>
          </a:p>
          <a:p>
            <a:pPr lvl="1"/>
            <a:r>
              <a:rPr lang="fr-FR" dirty="0" smtClean="0"/>
              <a:t>Date de fin trop serrée. Souvent du à des contraintes légales.</a:t>
            </a:r>
          </a:p>
          <a:p>
            <a:pPr lvl="1"/>
            <a:r>
              <a:rPr lang="fr-FR" dirty="0" smtClean="0"/>
              <a:t>Grand nombre de </a:t>
            </a:r>
            <a:r>
              <a:rPr lang="fr-FR" smtClean="0"/>
              <a:t>liens avec </a:t>
            </a:r>
            <a:r>
              <a:rPr lang="fr-FR" dirty="0" smtClean="0"/>
              <a:t>d’autres projets.  Les données du projet avec l’effort unitaire le plus élevé (98 heures/PF) était liées à presque toutes les grandes applications de l’organisation et sa date de fin était extrêmement serrée.</a:t>
            </a:r>
          </a:p>
          <a:p>
            <a:pPr lvl="1"/>
            <a:endParaRPr lang="fr-FR" dirty="0"/>
          </a:p>
        </p:txBody>
      </p:sp>
    </p:spTree>
    <p:extLst>
      <p:ext uri="{BB962C8B-B14F-4D97-AF65-F5344CB8AC3E}">
        <p14:creationId xmlns:p14="http://schemas.microsoft.com/office/powerpoint/2010/main" val="15312749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Modèle de productivité</a:t>
            </a:r>
            <a:endParaRPr lang="fr-FR" dirty="0"/>
          </a:p>
        </p:txBody>
      </p:sp>
      <p:sp>
        <p:nvSpPr>
          <p:cNvPr id="3" name="Espace réservé du contenu 2"/>
          <p:cNvSpPr>
            <a:spLocks noGrp="1"/>
          </p:cNvSpPr>
          <p:nvPr>
            <p:ph idx="1"/>
          </p:nvPr>
        </p:nvSpPr>
        <p:spPr>
          <a:xfrm>
            <a:off x="457200" y="1752600"/>
            <a:ext cx="8229600" cy="1715323"/>
          </a:xfrm>
          <a:prstGeom prst="rect">
            <a:avLst/>
          </a:prstGeom>
        </p:spPr>
        <p:txBody>
          <a:bodyPr/>
          <a:lstStyle/>
          <a:p>
            <a:r>
              <a:rPr lang="fr-FR" dirty="0" smtClean="0"/>
              <a:t>Un modèle de productivité comprend:</a:t>
            </a:r>
          </a:p>
          <a:p>
            <a:pPr lvl="1"/>
            <a:r>
              <a:rPr lang="fr-FR" dirty="0" smtClean="0"/>
              <a:t>des inputs (produit, processus, ressources)</a:t>
            </a:r>
          </a:p>
          <a:p>
            <a:pPr lvl="1"/>
            <a:r>
              <a:rPr lang="fr-FR" dirty="0" smtClean="0"/>
              <a:t>un modèle</a:t>
            </a:r>
          </a:p>
          <a:p>
            <a:pPr lvl="1"/>
            <a:r>
              <a:rPr lang="fr-FR" dirty="0" smtClean="0"/>
              <a:t>des outputs quantifiés (taille, efforts, risques, etc.)</a:t>
            </a:r>
          </a:p>
        </p:txBody>
      </p:sp>
    </p:spTree>
    <p:extLst>
      <p:ext uri="{BB962C8B-B14F-4D97-AF65-F5344CB8AC3E}">
        <p14:creationId xmlns:p14="http://schemas.microsoft.com/office/powerpoint/2010/main" val="2557045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Contexte du modèle de productivité</a:t>
            </a:r>
            <a:endParaRPr lang="fr-FR" dirty="0"/>
          </a:p>
        </p:txBody>
      </p:sp>
      <p:sp>
        <p:nvSpPr>
          <p:cNvPr id="6" name="Rectangle 5"/>
          <p:cNvSpPr/>
          <p:nvPr/>
        </p:nvSpPr>
        <p:spPr>
          <a:xfrm>
            <a:off x="3105677" y="2714534"/>
            <a:ext cx="2682979" cy="3054923"/>
          </a:xfrm>
          <a:prstGeom prst="rect">
            <a:avLst/>
          </a:prstGeom>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Plaque 6"/>
          <p:cNvSpPr/>
          <p:nvPr/>
        </p:nvSpPr>
        <p:spPr>
          <a:xfrm>
            <a:off x="673485" y="2250517"/>
            <a:ext cx="1278557" cy="1046452"/>
          </a:xfrm>
          <a:prstGeom prst="bevel">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 name="ZoneTexte 7"/>
          <p:cNvSpPr txBox="1"/>
          <p:nvPr/>
        </p:nvSpPr>
        <p:spPr>
          <a:xfrm>
            <a:off x="909612" y="2560645"/>
            <a:ext cx="790689" cy="307777"/>
          </a:xfrm>
          <a:prstGeom prst="rect">
            <a:avLst/>
          </a:prstGeom>
          <a:noFill/>
        </p:spPr>
        <p:txBody>
          <a:bodyPr wrap="none" rtlCol="0">
            <a:spAutoFit/>
          </a:bodyPr>
          <a:lstStyle/>
          <a:p>
            <a:r>
              <a:rPr lang="fr-FR" sz="1400" dirty="0" smtClean="0"/>
              <a:t>Produit</a:t>
            </a:r>
            <a:endParaRPr lang="fr-FR" sz="1400" dirty="0"/>
          </a:p>
        </p:txBody>
      </p:sp>
      <p:sp>
        <p:nvSpPr>
          <p:cNvPr id="9" name="Plaque 8"/>
          <p:cNvSpPr/>
          <p:nvPr/>
        </p:nvSpPr>
        <p:spPr>
          <a:xfrm>
            <a:off x="652283" y="3636227"/>
            <a:ext cx="1278557" cy="1046452"/>
          </a:xfrm>
          <a:prstGeom prst="bevel">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ZoneTexte 9"/>
          <p:cNvSpPr txBox="1"/>
          <p:nvPr/>
        </p:nvSpPr>
        <p:spPr>
          <a:xfrm>
            <a:off x="799701" y="3983162"/>
            <a:ext cx="1012830" cy="307777"/>
          </a:xfrm>
          <a:prstGeom prst="rect">
            <a:avLst/>
          </a:prstGeom>
          <a:noFill/>
        </p:spPr>
        <p:txBody>
          <a:bodyPr wrap="none" rtlCol="0">
            <a:spAutoFit/>
          </a:bodyPr>
          <a:lstStyle/>
          <a:p>
            <a:r>
              <a:rPr lang="fr-FR" sz="1400" dirty="0" smtClean="0"/>
              <a:t>Processus</a:t>
            </a:r>
            <a:endParaRPr lang="fr-FR" sz="1400" dirty="0"/>
          </a:p>
        </p:txBody>
      </p:sp>
      <p:sp>
        <p:nvSpPr>
          <p:cNvPr id="11" name="Plaque 10"/>
          <p:cNvSpPr/>
          <p:nvPr/>
        </p:nvSpPr>
        <p:spPr>
          <a:xfrm>
            <a:off x="673485" y="5113757"/>
            <a:ext cx="1278557" cy="1046452"/>
          </a:xfrm>
          <a:prstGeom prst="bevel">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3" name="ZoneTexte 12"/>
          <p:cNvSpPr txBox="1"/>
          <p:nvPr/>
        </p:nvSpPr>
        <p:spPr>
          <a:xfrm>
            <a:off x="799137" y="5460705"/>
            <a:ext cx="1131703" cy="307777"/>
          </a:xfrm>
          <a:prstGeom prst="rect">
            <a:avLst/>
          </a:prstGeom>
          <a:noFill/>
        </p:spPr>
        <p:txBody>
          <a:bodyPr wrap="none" rtlCol="0">
            <a:spAutoFit/>
          </a:bodyPr>
          <a:lstStyle/>
          <a:p>
            <a:r>
              <a:rPr lang="fr-FR" sz="1400" dirty="0" smtClean="0"/>
              <a:t>Ressources</a:t>
            </a:r>
            <a:endParaRPr lang="fr-FR" sz="1400" dirty="0"/>
          </a:p>
        </p:txBody>
      </p:sp>
      <p:sp>
        <p:nvSpPr>
          <p:cNvPr id="15" name="Flèche vers la droite 14"/>
          <p:cNvSpPr/>
          <p:nvPr/>
        </p:nvSpPr>
        <p:spPr>
          <a:xfrm>
            <a:off x="1952042" y="2868422"/>
            <a:ext cx="1153634" cy="484632"/>
          </a:xfrm>
          <a:prstGeom prst="rightArrow">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6" name="Flèche vers la droite 15"/>
          <p:cNvSpPr/>
          <p:nvPr/>
        </p:nvSpPr>
        <p:spPr>
          <a:xfrm>
            <a:off x="1952042" y="3953770"/>
            <a:ext cx="1153634" cy="484632"/>
          </a:xfrm>
          <a:prstGeom prst="rightArrow">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7" name="Flèche vers la droite 16"/>
          <p:cNvSpPr/>
          <p:nvPr/>
        </p:nvSpPr>
        <p:spPr>
          <a:xfrm>
            <a:off x="1952041" y="5113757"/>
            <a:ext cx="1153635" cy="484632"/>
          </a:xfrm>
          <a:prstGeom prst="rightArrow">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9" name="ZoneTexte 18"/>
          <p:cNvSpPr txBox="1"/>
          <p:nvPr/>
        </p:nvSpPr>
        <p:spPr>
          <a:xfrm>
            <a:off x="3871315" y="3820905"/>
            <a:ext cx="1217526" cy="861774"/>
          </a:xfrm>
          <a:prstGeom prst="rect">
            <a:avLst/>
          </a:prstGeom>
          <a:noFill/>
        </p:spPr>
        <p:txBody>
          <a:bodyPr wrap="none" rtlCol="0">
            <a:spAutoFit/>
          </a:bodyPr>
          <a:lstStyle/>
          <a:p>
            <a:r>
              <a:rPr lang="fr-FR" dirty="0" smtClean="0"/>
              <a:t>Modèle</a:t>
            </a:r>
          </a:p>
          <a:p>
            <a:r>
              <a:rPr lang="fr-FR" sz="1400" dirty="0" smtClean="0"/>
              <a:t>(techniques </a:t>
            </a:r>
          </a:p>
          <a:p>
            <a:r>
              <a:rPr lang="fr-FR" sz="1400" dirty="0" smtClean="0"/>
              <a:t>statistiques</a:t>
            </a:r>
            <a:r>
              <a:rPr lang="fr-FR" dirty="0" smtClean="0"/>
              <a:t>)</a:t>
            </a:r>
            <a:endParaRPr lang="fr-FR" dirty="0"/>
          </a:p>
        </p:txBody>
      </p:sp>
      <p:sp>
        <p:nvSpPr>
          <p:cNvPr id="20" name="Carré corné 19"/>
          <p:cNvSpPr/>
          <p:nvPr/>
        </p:nvSpPr>
        <p:spPr>
          <a:xfrm>
            <a:off x="6767064" y="3636227"/>
            <a:ext cx="939104" cy="808043"/>
          </a:xfrm>
          <a:prstGeom prst="foldedCorner">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1" name="Pensées 20"/>
          <p:cNvSpPr/>
          <p:nvPr/>
        </p:nvSpPr>
        <p:spPr>
          <a:xfrm>
            <a:off x="6767064" y="4700241"/>
            <a:ext cx="1168646" cy="585109"/>
          </a:xfrm>
          <a:prstGeom prst="cloudCallou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ZoneTexte 21"/>
          <p:cNvSpPr txBox="1"/>
          <p:nvPr/>
        </p:nvSpPr>
        <p:spPr>
          <a:xfrm>
            <a:off x="6835980" y="4880247"/>
            <a:ext cx="1099730" cy="276999"/>
          </a:xfrm>
          <a:prstGeom prst="rect">
            <a:avLst/>
          </a:prstGeom>
          <a:noFill/>
        </p:spPr>
        <p:txBody>
          <a:bodyPr wrap="none" rtlCol="0">
            <a:spAutoFit/>
          </a:bodyPr>
          <a:lstStyle/>
          <a:p>
            <a:r>
              <a:rPr lang="fr-FR" sz="1200" dirty="0" smtClean="0"/>
              <a:t>Informations</a:t>
            </a:r>
            <a:endParaRPr lang="fr-FR" sz="1200" dirty="0"/>
          </a:p>
        </p:txBody>
      </p:sp>
      <p:sp>
        <p:nvSpPr>
          <p:cNvPr id="23" name="ZoneTexte 22"/>
          <p:cNvSpPr txBox="1"/>
          <p:nvPr/>
        </p:nvSpPr>
        <p:spPr>
          <a:xfrm>
            <a:off x="6767064" y="3918266"/>
            <a:ext cx="939104" cy="307777"/>
          </a:xfrm>
          <a:prstGeom prst="rect">
            <a:avLst/>
          </a:prstGeom>
          <a:noFill/>
        </p:spPr>
        <p:txBody>
          <a:bodyPr wrap="none" rtlCol="0">
            <a:spAutoFit/>
          </a:bodyPr>
          <a:lstStyle/>
          <a:p>
            <a:r>
              <a:rPr lang="fr-FR" sz="1400" dirty="0" smtClean="0"/>
              <a:t>Résultats</a:t>
            </a:r>
            <a:endParaRPr lang="fr-FR" sz="1400" dirty="0"/>
          </a:p>
        </p:txBody>
      </p:sp>
      <p:sp>
        <p:nvSpPr>
          <p:cNvPr id="24" name="Flèche vers la droite 23"/>
          <p:cNvSpPr/>
          <p:nvPr/>
        </p:nvSpPr>
        <p:spPr>
          <a:xfrm>
            <a:off x="5788656" y="3912398"/>
            <a:ext cx="978408" cy="484632"/>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Flèche vers la droite 24"/>
          <p:cNvSpPr/>
          <p:nvPr/>
        </p:nvSpPr>
        <p:spPr>
          <a:xfrm>
            <a:off x="5788656" y="4751342"/>
            <a:ext cx="978408" cy="484632"/>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036339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Exemples</a:t>
            </a:r>
            <a:endParaRPr lang="fr-FR" dirty="0"/>
          </a:p>
        </p:txBody>
      </p:sp>
      <p:sp>
        <p:nvSpPr>
          <p:cNvPr id="3" name="Espace réservé du contenu 2"/>
          <p:cNvSpPr>
            <a:spLocks noGrp="1"/>
          </p:cNvSpPr>
          <p:nvPr>
            <p:ph idx="1"/>
          </p:nvPr>
        </p:nvSpPr>
        <p:spPr/>
        <p:txBody>
          <a:bodyPr>
            <a:normAutofit fontScale="92500" lnSpcReduction="20000"/>
          </a:bodyPr>
          <a:lstStyle/>
          <a:p>
            <a:r>
              <a:rPr lang="fr-FR" dirty="0" smtClean="0"/>
              <a:t>Voici quelques exemples de sources de données pour la construction d’un modèle de productivité:</a:t>
            </a:r>
          </a:p>
          <a:p>
            <a:pPr lvl="1"/>
            <a:r>
              <a:rPr lang="fr-FR" dirty="0" smtClean="0"/>
              <a:t>La base de donnée ISBSG est un exemple de collecte de données pour construire un modèle de productivité ouvert.  ISBSG utilise un questionnaire pour comprendre ce qui s’est passé pendant la réalisation du projet, en plus de demander la taille</a:t>
            </a:r>
          </a:p>
          <a:p>
            <a:pPr lvl="1"/>
            <a:r>
              <a:rPr lang="fr-FR" dirty="0"/>
              <a:t>Le premier modèle de productivité ouvert avec les lignes de code a été réalisé au début des années 80 avec 63 projets (Barry Boehm). Boehm a </a:t>
            </a:r>
            <a:r>
              <a:rPr lang="fr-FR" dirty="0" smtClean="0"/>
              <a:t>documenté chaque projet.  Malheureusement les </a:t>
            </a:r>
            <a:r>
              <a:rPr lang="fr-FR" dirty="0" err="1" smtClean="0"/>
              <a:t>LOCs</a:t>
            </a:r>
            <a:r>
              <a:rPr lang="fr-FR" dirty="0" smtClean="0"/>
              <a:t> sont peut exportables.</a:t>
            </a:r>
            <a:endParaRPr lang="fr-FR" dirty="0"/>
          </a:p>
          <a:p>
            <a:pPr lvl="1"/>
            <a:r>
              <a:rPr lang="fr-FR" dirty="0" smtClean="0"/>
              <a:t>Un des premiers modèle de productivité ‘ouvert’ avec la mesure de la taille en points de fonction a été réalisé en 1979 avec 21projets (Albrecht).  Malheureusement pas documenté.  En 1988 un modèle de productivité ouvert et documenté a été produit en points de fonction avec 81 projets (Desharnais)</a:t>
            </a:r>
          </a:p>
        </p:txBody>
      </p:sp>
    </p:spTree>
    <p:extLst>
      <p:ext uri="{BB962C8B-B14F-4D97-AF65-F5344CB8AC3E}">
        <p14:creationId xmlns:p14="http://schemas.microsoft.com/office/powerpoint/2010/main" val="3897690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Modèle d’estimation</a:t>
            </a:r>
            <a:endParaRPr lang="fr-FR" dirty="0"/>
          </a:p>
        </p:txBody>
      </p:sp>
      <p:sp>
        <p:nvSpPr>
          <p:cNvPr id="3" name="Espace réservé du contenu 2"/>
          <p:cNvSpPr>
            <a:spLocks noGrp="1"/>
          </p:cNvSpPr>
          <p:nvPr>
            <p:ph idx="1"/>
          </p:nvPr>
        </p:nvSpPr>
        <p:spPr>
          <a:xfrm>
            <a:off x="457200" y="1752601"/>
            <a:ext cx="8229600" cy="806998"/>
          </a:xfrm>
        </p:spPr>
        <p:txBody>
          <a:bodyPr/>
          <a:lstStyle/>
          <a:p>
            <a:r>
              <a:rPr lang="fr-FR" dirty="0" smtClean="0"/>
              <a:t>L’estimation résulte d’un processus</a:t>
            </a:r>
          </a:p>
        </p:txBody>
      </p:sp>
      <p:sp>
        <p:nvSpPr>
          <p:cNvPr id="4" name="Rectangle 3"/>
          <p:cNvSpPr/>
          <p:nvPr/>
        </p:nvSpPr>
        <p:spPr>
          <a:xfrm>
            <a:off x="912943" y="2659654"/>
            <a:ext cx="1553557" cy="1149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 name="Rectangle 4"/>
          <p:cNvSpPr/>
          <p:nvPr/>
        </p:nvSpPr>
        <p:spPr>
          <a:xfrm>
            <a:off x="2719386" y="2659654"/>
            <a:ext cx="1553557" cy="1149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Rectangle 5"/>
          <p:cNvSpPr/>
          <p:nvPr/>
        </p:nvSpPr>
        <p:spPr>
          <a:xfrm>
            <a:off x="4511265" y="2659654"/>
            <a:ext cx="1553557" cy="1149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Rectangle 6"/>
          <p:cNvSpPr/>
          <p:nvPr/>
        </p:nvSpPr>
        <p:spPr>
          <a:xfrm>
            <a:off x="6283454" y="2702575"/>
            <a:ext cx="1553557" cy="1149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 name="Rectangle 7"/>
          <p:cNvSpPr/>
          <p:nvPr/>
        </p:nvSpPr>
        <p:spPr>
          <a:xfrm>
            <a:off x="6317708" y="4170610"/>
            <a:ext cx="1553557" cy="1149825"/>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9" name="Connecteur droit 8"/>
          <p:cNvCxnSpPr/>
          <p:nvPr/>
        </p:nvCxnSpPr>
        <p:spPr>
          <a:xfrm>
            <a:off x="2466500" y="3277871"/>
            <a:ext cx="252886"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1" name="Connecteur droit avec flèche 10"/>
          <p:cNvCxnSpPr/>
          <p:nvPr/>
        </p:nvCxnSpPr>
        <p:spPr>
          <a:xfrm flipH="1" flipV="1">
            <a:off x="2719386" y="3277871"/>
            <a:ext cx="91707" cy="23627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4258379" y="3302291"/>
            <a:ext cx="252886"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6064822" y="3277488"/>
            <a:ext cx="218632"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7123418" y="3852400"/>
            <a:ext cx="0" cy="31821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
        <p:nvSpPr>
          <p:cNvPr id="22" name="ZoneTexte 21"/>
          <p:cNvSpPr txBox="1"/>
          <p:nvPr/>
        </p:nvSpPr>
        <p:spPr>
          <a:xfrm>
            <a:off x="1001553" y="2949586"/>
            <a:ext cx="1204176" cy="584776"/>
          </a:xfrm>
          <a:prstGeom prst="rect">
            <a:avLst/>
          </a:prstGeom>
          <a:noFill/>
        </p:spPr>
        <p:txBody>
          <a:bodyPr wrap="none" rtlCol="0">
            <a:spAutoFit/>
          </a:bodyPr>
          <a:lstStyle/>
          <a:p>
            <a:r>
              <a:rPr lang="fr-FR" sz="1600" dirty="0" smtClean="0"/>
              <a:t>Collection </a:t>
            </a:r>
          </a:p>
          <a:p>
            <a:r>
              <a:rPr lang="fr-FR" sz="1600" dirty="0" smtClean="0"/>
              <a:t>des inputs</a:t>
            </a:r>
            <a:endParaRPr lang="fr-FR" sz="1600" dirty="0"/>
          </a:p>
        </p:txBody>
      </p:sp>
      <p:sp>
        <p:nvSpPr>
          <p:cNvPr id="23" name="ZoneTexte 22"/>
          <p:cNvSpPr txBox="1"/>
          <p:nvPr/>
        </p:nvSpPr>
        <p:spPr>
          <a:xfrm>
            <a:off x="2782194" y="2861989"/>
            <a:ext cx="1476185" cy="830997"/>
          </a:xfrm>
          <a:prstGeom prst="rect">
            <a:avLst/>
          </a:prstGeom>
          <a:noFill/>
        </p:spPr>
        <p:txBody>
          <a:bodyPr wrap="none" rtlCol="0">
            <a:spAutoFit/>
          </a:bodyPr>
          <a:lstStyle/>
          <a:p>
            <a:pPr algn="ctr"/>
            <a:r>
              <a:rPr lang="fr-FR" sz="1600" dirty="0" smtClean="0"/>
              <a:t>Exécution du</a:t>
            </a:r>
          </a:p>
          <a:p>
            <a:pPr algn="ctr"/>
            <a:r>
              <a:rPr lang="fr-FR" sz="1600" dirty="0" smtClean="0"/>
              <a:t>modèle de</a:t>
            </a:r>
          </a:p>
          <a:p>
            <a:pPr algn="ctr"/>
            <a:r>
              <a:rPr lang="fr-FR" sz="1600" dirty="0" smtClean="0"/>
              <a:t>productivité</a:t>
            </a:r>
            <a:endParaRPr lang="fr-FR" sz="1600" dirty="0"/>
          </a:p>
        </p:txBody>
      </p:sp>
      <p:sp>
        <p:nvSpPr>
          <p:cNvPr id="24" name="ZoneTexte 23"/>
          <p:cNvSpPr txBox="1"/>
          <p:nvPr/>
        </p:nvSpPr>
        <p:spPr>
          <a:xfrm>
            <a:off x="4598119" y="3092822"/>
            <a:ext cx="1385516" cy="338554"/>
          </a:xfrm>
          <a:prstGeom prst="rect">
            <a:avLst/>
          </a:prstGeom>
          <a:noFill/>
        </p:spPr>
        <p:txBody>
          <a:bodyPr wrap="none" rtlCol="0">
            <a:spAutoFit/>
          </a:bodyPr>
          <a:lstStyle/>
          <a:p>
            <a:r>
              <a:rPr lang="fr-FR" sz="1600" dirty="0" smtClean="0"/>
              <a:t>Ajustements</a:t>
            </a:r>
            <a:endParaRPr lang="fr-FR" sz="1600" dirty="0"/>
          </a:p>
        </p:txBody>
      </p:sp>
      <p:sp>
        <p:nvSpPr>
          <p:cNvPr id="25" name="ZoneTexte 24"/>
          <p:cNvSpPr txBox="1"/>
          <p:nvPr/>
        </p:nvSpPr>
        <p:spPr>
          <a:xfrm>
            <a:off x="6251866" y="2955191"/>
            <a:ext cx="1619399" cy="830997"/>
          </a:xfrm>
          <a:prstGeom prst="rect">
            <a:avLst/>
          </a:prstGeom>
          <a:noFill/>
        </p:spPr>
        <p:txBody>
          <a:bodyPr wrap="square" rtlCol="0">
            <a:spAutoFit/>
          </a:bodyPr>
          <a:lstStyle/>
          <a:p>
            <a:pPr algn="ctr"/>
            <a:r>
              <a:rPr lang="fr-FR" sz="1600" dirty="0" smtClean="0"/>
              <a:t>Budgétisation</a:t>
            </a:r>
          </a:p>
          <a:p>
            <a:pPr algn="ctr"/>
            <a:r>
              <a:rPr lang="fr-FR" sz="1600" dirty="0" smtClean="0"/>
              <a:t>et</a:t>
            </a:r>
          </a:p>
          <a:p>
            <a:pPr algn="ctr"/>
            <a:r>
              <a:rPr lang="fr-FR" sz="1600" dirty="0" smtClean="0"/>
              <a:t>contingences</a:t>
            </a:r>
            <a:endParaRPr lang="fr-FR" sz="1600" dirty="0"/>
          </a:p>
        </p:txBody>
      </p:sp>
      <p:sp>
        <p:nvSpPr>
          <p:cNvPr id="26" name="ZoneTexte 25"/>
          <p:cNvSpPr txBox="1"/>
          <p:nvPr/>
        </p:nvSpPr>
        <p:spPr>
          <a:xfrm>
            <a:off x="6317708" y="4510829"/>
            <a:ext cx="1536999" cy="338554"/>
          </a:xfrm>
          <a:prstGeom prst="rect">
            <a:avLst/>
          </a:prstGeom>
          <a:noFill/>
        </p:spPr>
        <p:txBody>
          <a:bodyPr wrap="none" rtlCol="0">
            <a:spAutoFit/>
          </a:bodyPr>
          <a:lstStyle/>
          <a:p>
            <a:r>
              <a:rPr lang="fr-FR" sz="1600" dirty="0" smtClean="0"/>
              <a:t>Ré-estimation</a:t>
            </a:r>
            <a:endParaRPr lang="fr-FR" sz="1600" dirty="0"/>
          </a:p>
        </p:txBody>
      </p:sp>
      <p:sp>
        <p:nvSpPr>
          <p:cNvPr id="27" name="Rectangle 26"/>
          <p:cNvSpPr/>
          <p:nvPr/>
        </p:nvSpPr>
        <p:spPr>
          <a:xfrm>
            <a:off x="4511265" y="4169843"/>
            <a:ext cx="1553557" cy="1149825"/>
          </a:xfrm>
          <a:prstGeom prst="rect">
            <a:avLst/>
          </a:prstGeom>
          <a:solidFill>
            <a:schemeClr val="accent1"/>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8" name="ZoneTexte 27"/>
          <p:cNvSpPr txBox="1"/>
          <p:nvPr/>
        </p:nvSpPr>
        <p:spPr>
          <a:xfrm>
            <a:off x="4511265" y="4491523"/>
            <a:ext cx="1608997" cy="369332"/>
          </a:xfrm>
          <a:prstGeom prst="rect">
            <a:avLst/>
          </a:prstGeom>
          <a:noFill/>
        </p:spPr>
        <p:txBody>
          <a:bodyPr wrap="none" rtlCol="0">
            <a:spAutoFit/>
          </a:bodyPr>
          <a:lstStyle/>
          <a:p>
            <a:r>
              <a:rPr lang="fr-FR" dirty="0" smtClean="0"/>
              <a:t>Amélioration</a:t>
            </a:r>
            <a:endParaRPr lang="fr-FR" dirty="0"/>
          </a:p>
        </p:txBody>
      </p:sp>
      <p:cxnSp>
        <p:nvCxnSpPr>
          <p:cNvPr id="30" name="Connecteur droit 29"/>
          <p:cNvCxnSpPr/>
          <p:nvPr/>
        </p:nvCxnSpPr>
        <p:spPr>
          <a:xfrm flipH="1" flipV="1">
            <a:off x="6003325" y="4676189"/>
            <a:ext cx="334073" cy="3917"/>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80163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Collection des inputs</a:t>
            </a:r>
            <a:endParaRPr lang="fr-FR" dirty="0"/>
          </a:p>
        </p:txBody>
      </p:sp>
      <p:sp>
        <p:nvSpPr>
          <p:cNvPr id="4" name="Rectangle 3"/>
          <p:cNvSpPr/>
          <p:nvPr/>
        </p:nvSpPr>
        <p:spPr>
          <a:xfrm>
            <a:off x="927506" y="2138273"/>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 name="Rectangle 4"/>
          <p:cNvSpPr/>
          <p:nvPr/>
        </p:nvSpPr>
        <p:spPr>
          <a:xfrm>
            <a:off x="927506" y="3304668"/>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Rectangle 5"/>
          <p:cNvSpPr/>
          <p:nvPr/>
        </p:nvSpPr>
        <p:spPr>
          <a:xfrm>
            <a:off x="927506" y="4490752"/>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ZoneTexte 6"/>
          <p:cNvSpPr txBox="1"/>
          <p:nvPr/>
        </p:nvSpPr>
        <p:spPr>
          <a:xfrm>
            <a:off x="541134" y="1675577"/>
            <a:ext cx="2561068" cy="369332"/>
          </a:xfrm>
          <a:prstGeom prst="rect">
            <a:avLst/>
          </a:prstGeom>
          <a:noFill/>
        </p:spPr>
        <p:txBody>
          <a:bodyPr wrap="none" rtlCol="0">
            <a:spAutoFit/>
          </a:bodyPr>
          <a:lstStyle/>
          <a:p>
            <a:r>
              <a:rPr lang="fr-FR" dirty="0" smtClean="0"/>
              <a:t>Inputs de l’estimation</a:t>
            </a:r>
            <a:endParaRPr lang="fr-FR" dirty="0"/>
          </a:p>
        </p:txBody>
      </p:sp>
      <p:sp>
        <p:nvSpPr>
          <p:cNvPr id="8" name="ZoneTexte 7"/>
          <p:cNvSpPr txBox="1"/>
          <p:nvPr/>
        </p:nvSpPr>
        <p:spPr>
          <a:xfrm>
            <a:off x="927506" y="2138273"/>
            <a:ext cx="1737462" cy="738664"/>
          </a:xfrm>
          <a:prstGeom prst="rect">
            <a:avLst/>
          </a:prstGeom>
          <a:noFill/>
        </p:spPr>
        <p:txBody>
          <a:bodyPr wrap="none" rtlCol="0">
            <a:spAutoFit/>
          </a:bodyPr>
          <a:lstStyle/>
          <a:p>
            <a:pPr algn="ctr"/>
            <a:r>
              <a:rPr lang="fr-FR" sz="1400" dirty="0" smtClean="0"/>
              <a:t>Exigences et taille </a:t>
            </a:r>
          </a:p>
          <a:p>
            <a:pPr algn="ctr"/>
            <a:r>
              <a:rPr lang="fr-FR" sz="1400" dirty="0" smtClean="0"/>
              <a:t>approximative </a:t>
            </a:r>
          </a:p>
          <a:p>
            <a:pPr algn="ctr"/>
            <a:r>
              <a:rPr lang="fr-FR" sz="1400" dirty="0" smtClean="0"/>
              <a:t>(min/max)</a:t>
            </a:r>
            <a:endParaRPr lang="fr-FR" sz="1400" dirty="0"/>
          </a:p>
        </p:txBody>
      </p:sp>
      <p:sp>
        <p:nvSpPr>
          <p:cNvPr id="9" name="ZoneTexte 8"/>
          <p:cNvSpPr txBox="1"/>
          <p:nvPr/>
        </p:nvSpPr>
        <p:spPr>
          <a:xfrm>
            <a:off x="927506" y="3573593"/>
            <a:ext cx="1834857" cy="307777"/>
          </a:xfrm>
          <a:prstGeom prst="rect">
            <a:avLst/>
          </a:prstGeom>
          <a:noFill/>
        </p:spPr>
        <p:txBody>
          <a:bodyPr wrap="none" rtlCol="0">
            <a:spAutoFit/>
          </a:bodyPr>
          <a:lstStyle/>
          <a:p>
            <a:r>
              <a:rPr lang="fr-FR" sz="1400" dirty="0" smtClean="0"/>
              <a:t>Processus attendus</a:t>
            </a:r>
            <a:endParaRPr lang="fr-FR" sz="1400" dirty="0"/>
          </a:p>
        </p:txBody>
      </p:sp>
      <p:sp>
        <p:nvSpPr>
          <p:cNvPr id="10" name="ZoneTexte 9"/>
          <p:cNvSpPr txBox="1"/>
          <p:nvPr/>
        </p:nvSpPr>
        <p:spPr>
          <a:xfrm>
            <a:off x="1217666" y="4646655"/>
            <a:ext cx="1187808" cy="523220"/>
          </a:xfrm>
          <a:prstGeom prst="rect">
            <a:avLst/>
          </a:prstGeom>
          <a:noFill/>
        </p:spPr>
        <p:txBody>
          <a:bodyPr wrap="none" rtlCol="0">
            <a:spAutoFit/>
          </a:bodyPr>
          <a:lstStyle/>
          <a:p>
            <a:pPr algn="ctr"/>
            <a:r>
              <a:rPr lang="fr-FR" sz="1400" dirty="0" smtClean="0"/>
              <a:t>Contraintes </a:t>
            </a:r>
          </a:p>
          <a:p>
            <a:pPr algn="ctr"/>
            <a:r>
              <a:rPr lang="fr-FR" sz="1400" dirty="0" smtClean="0"/>
              <a:t>du projet</a:t>
            </a:r>
            <a:endParaRPr lang="fr-FR" sz="1400" dirty="0"/>
          </a:p>
        </p:txBody>
      </p:sp>
      <p:sp>
        <p:nvSpPr>
          <p:cNvPr id="11" name="Pensées 10"/>
          <p:cNvSpPr/>
          <p:nvPr/>
        </p:nvSpPr>
        <p:spPr>
          <a:xfrm>
            <a:off x="4127291" y="1887990"/>
            <a:ext cx="1927686" cy="1281973"/>
          </a:xfrm>
          <a:prstGeom prst="cloudCallou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3" name="ZoneTexte 12"/>
          <p:cNvSpPr txBox="1"/>
          <p:nvPr/>
        </p:nvSpPr>
        <p:spPr>
          <a:xfrm>
            <a:off x="4361552" y="2215037"/>
            <a:ext cx="1617951" cy="584776"/>
          </a:xfrm>
          <a:prstGeom prst="rect">
            <a:avLst/>
          </a:prstGeom>
          <a:noFill/>
        </p:spPr>
        <p:txBody>
          <a:bodyPr wrap="none" rtlCol="0">
            <a:spAutoFit/>
          </a:bodyPr>
          <a:lstStyle/>
          <a:p>
            <a:r>
              <a:rPr lang="fr-FR" sz="1600" dirty="0" smtClean="0"/>
              <a:t>Confiance </a:t>
            </a:r>
          </a:p>
          <a:p>
            <a:r>
              <a:rPr lang="fr-FR" sz="1600" dirty="0" smtClean="0"/>
              <a:t>dans les inputs</a:t>
            </a:r>
            <a:endParaRPr lang="fr-FR" sz="1600" dirty="0"/>
          </a:p>
        </p:txBody>
      </p:sp>
      <p:sp>
        <p:nvSpPr>
          <p:cNvPr id="14" name="Rectangle 13"/>
          <p:cNvSpPr/>
          <p:nvPr/>
        </p:nvSpPr>
        <p:spPr>
          <a:xfrm>
            <a:off x="4225746" y="3600749"/>
            <a:ext cx="1829231" cy="1410155"/>
          </a:xfrm>
          <a:prstGeom prst="rect">
            <a:avLst/>
          </a:prstGeom>
          <a:noFill/>
          <a:ln>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5" name="ZoneTexte 14"/>
          <p:cNvSpPr txBox="1"/>
          <p:nvPr/>
        </p:nvSpPr>
        <p:spPr>
          <a:xfrm>
            <a:off x="4361552" y="4000324"/>
            <a:ext cx="1536411" cy="646331"/>
          </a:xfrm>
          <a:prstGeom prst="rect">
            <a:avLst/>
          </a:prstGeom>
          <a:noFill/>
        </p:spPr>
        <p:txBody>
          <a:bodyPr wrap="none" rtlCol="0">
            <a:spAutoFit/>
          </a:bodyPr>
          <a:lstStyle/>
          <a:p>
            <a:r>
              <a:rPr lang="fr-FR" dirty="0" smtClean="0"/>
              <a:t>Modèle de </a:t>
            </a:r>
          </a:p>
          <a:p>
            <a:r>
              <a:rPr lang="fr-FR" dirty="0" smtClean="0"/>
              <a:t>productivité</a:t>
            </a:r>
            <a:endParaRPr lang="fr-FR" dirty="0"/>
          </a:p>
        </p:txBody>
      </p:sp>
      <p:cxnSp>
        <p:nvCxnSpPr>
          <p:cNvPr id="16" name="Connecteur droit 15"/>
          <p:cNvCxnSpPr/>
          <p:nvPr/>
        </p:nvCxnSpPr>
        <p:spPr>
          <a:xfrm>
            <a:off x="2756737" y="2610814"/>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2756737" y="3698452"/>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2777300" y="4904225"/>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23" name="Connecteur droit 22"/>
          <p:cNvCxnSpPr/>
          <p:nvPr/>
        </p:nvCxnSpPr>
        <p:spPr>
          <a:xfrm>
            <a:off x="3406540" y="2610814"/>
            <a:ext cx="0" cy="2293411"/>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29" name="Connecteur droit 28"/>
          <p:cNvCxnSpPr/>
          <p:nvPr/>
        </p:nvCxnSpPr>
        <p:spPr>
          <a:xfrm>
            <a:off x="3369189" y="3683877"/>
            <a:ext cx="856557" cy="637906"/>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31" name="Connecteur droit 30"/>
          <p:cNvCxnSpPr/>
          <p:nvPr/>
        </p:nvCxnSpPr>
        <p:spPr>
          <a:xfrm flipV="1">
            <a:off x="3369189" y="2961234"/>
            <a:ext cx="856557" cy="737218"/>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92025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1</a:t>
            </a:r>
            <a:endParaRPr lang="fr-FR" dirty="0"/>
          </a:p>
        </p:txBody>
      </p:sp>
      <p:sp>
        <p:nvSpPr>
          <p:cNvPr id="3" name="Espace réservé du contenu 2"/>
          <p:cNvSpPr>
            <a:spLocks noGrp="1"/>
          </p:cNvSpPr>
          <p:nvPr>
            <p:ph idx="1"/>
          </p:nvPr>
        </p:nvSpPr>
        <p:spPr/>
        <p:txBody>
          <a:bodyPr/>
          <a:lstStyle/>
          <a:p>
            <a:r>
              <a:rPr lang="fr-FR" dirty="0" smtClean="0">
                <a:latin typeface="Times New Roman"/>
                <a:cs typeface="Times New Roman"/>
              </a:rPr>
              <a:t>Pouvez-vous identifier pour votre projet la confiance en vos données d’input?</a:t>
            </a:r>
          </a:p>
          <a:p>
            <a:r>
              <a:rPr lang="fr-FR" dirty="0" smtClean="0">
                <a:latin typeface="Times New Roman"/>
                <a:cs typeface="Times New Roman"/>
              </a:rPr>
              <a:t>Est-ce mesurable?</a:t>
            </a:r>
          </a:p>
          <a:p>
            <a:r>
              <a:rPr lang="fr-FR" dirty="0" smtClean="0">
                <a:latin typeface="Times New Roman"/>
                <a:cs typeface="Times New Roman"/>
              </a:rPr>
              <a:t>Que pourriez-vous faire pour améliorer la confiance en vos données d’input?</a:t>
            </a:r>
            <a:endParaRPr lang="fr-FR" dirty="0">
              <a:latin typeface="Times New Roman"/>
              <a:cs typeface="Times New Roman"/>
            </a:endParaRPr>
          </a:p>
        </p:txBody>
      </p:sp>
    </p:spTree>
    <p:extLst>
      <p:ext uri="{BB962C8B-B14F-4D97-AF65-F5344CB8AC3E}">
        <p14:creationId xmlns:p14="http://schemas.microsoft.com/office/powerpoint/2010/main" val="35838650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Exécution du modèle de productivité</a:t>
            </a:r>
            <a:endParaRPr lang="fr-FR" dirty="0"/>
          </a:p>
        </p:txBody>
      </p:sp>
      <p:sp>
        <p:nvSpPr>
          <p:cNvPr id="4" name="Rectangle 3"/>
          <p:cNvSpPr/>
          <p:nvPr/>
        </p:nvSpPr>
        <p:spPr>
          <a:xfrm>
            <a:off x="927506" y="2138273"/>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5" name="Rectangle 4"/>
          <p:cNvSpPr/>
          <p:nvPr/>
        </p:nvSpPr>
        <p:spPr>
          <a:xfrm>
            <a:off x="927506" y="3304668"/>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Rectangle 5"/>
          <p:cNvSpPr/>
          <p:nvPr/>
        </p:nvSpPr>
        <p:spPr>
          <a:xfrm>
            <a:off x="927506" y="4490752"/>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ZoneTexte 6"/>
          <p:cNvSpPr txBox="1"/>
          <p:nvPr/>
        </p:nvSpPr>
        <p:spPr>
          <a:xfrm>
            <a:off x="1400894" y="2446050"/>
            <a:ext cx="790689" cy="307777"/>
          </a:xfrm>
          <a:prstGeom prst="rect">
            <a:avLst/>
          </a:prstGeom>
          <a:noFill/>
        </p:spPr>
        <p:txBody>
          <a:bodyPr wrap="none" rtlCol="0">
            <a:spAutoFit/>
          </a:bodyPr>
          <a:lstStyle/>
          <a:p>
            <a:pPr algn="ctr"/>
            <a:r>
              <a:rPr lang="fr-FR" sz="1400" dirty="0" smtClean="0"/>
              <a:t>Produit</a:t>
            </a:r>
            <a:endParaRPr lang="fr-FR" sz="1400" dirty="0"/>
          </a:p>
        </p:txBody>
      </p:sp>
      <p:sp>
        <p:nvSpPr>
          <p:cNvPr id="8" name="ZoneTexte 7"/>
          <p:cNvSpPr txBox="1"/>
          <p:nvPr/>
        </p:nvSpPr>
        <p:spPr>
          <a:xfrm>
            <a:off x="1392644" y="3548045"/>
            <a:ext cx="1012830" cy="307777"/>
          </a:xfrm>
          <a:prstGeom prst="rect">
            <a:avLst/>
          </a:prstGeom>
          <a:noFill/>
        </p:spPr>
        <p:txBody>
          <a:bodyPr wrap="none" rtlCol="0">
            <a:spAutoFit/>
          </a:bodyPr>
          <a:lstStyle/>
          <a:p>
            <a:r>
              <a:rPr lang="fr-FR" sz="1400" dirty="0" smtClean="0"/>
              <a:t>Processus</a:t>
            </a:r>
            <a:endParaRPr lang="fr-FR" sz="1400" dirty="0"/>
          </a:p>
        </p:txBody>
      </p:sp>
      <p:sp>
        <p:nvSpPr>
          <p:cNvPr id="9" name="ZoneTexte 8"/>
          <p:cNvSpPr txBox="1"/>
          <p:nvPr/>
        </p:nvSpPr>
        <p:spPr>
          <a:xfrm>
            <a:off x="1217666" y="4750336"/>
            <a:ext cx="1187808" cy="307777"/>
          </a:xfrm>
          <a:prstGeom prst="rect">
            <a:avLst/>
          </a:prstGeom>
          <a:noFill/>
        </p:spPr>
        <p:txBody>
          <a:bodyPr wrap="none" rtlCol="0">
            <a:spAutoFit/>
          </a:bodyPr>
          <a:lstStyle/>
          <a:p>
            <a:pPr algn="ctr"/>
            <a:r>
              <a:rPr lang="fr-FR" sz="1400" dirty="0" smtClean="0"/>
              <a:t>Contraintes </a:t>
            </a:r>
          </a:p>
        </p:txBody>
      </p:sp>
      <p:sp>
        <p:nvSpPr>
          <p:cNvPr id="12" name="Rectangle 11"/>
          <p:cNvSpPr/>
          <p:nvPr/>
        </p:nvSpPr>
        <p:spPr>
          <a:xfrm>
            <a:off x="4225746" y="2993374"/>
            <a:ext cx="1829231" cy="1410155"/>
          </a:xfrm>
          <a:prstGeom prst="rect">
            <a:avLst/>
          </a:prstGeom>
          <a:noFill/>
          <a:ln>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3" name="ZoneTexte 12"/>
          <p:cNvSpPr txBox="1"/>
          <p:nvPr/>
        </p:nvSpPr>
        <p:spPr>
          <a:xfrm>
            <a:off x="4452192" y="3481297"/>
            <a:ext cx="1415134" cy="646331"/>
          </a:xfrm>
          <a:prstGeom prst="rect">
            <a:avLst/>
          </a:prstGeom>
          <a:noFill/>
        </p:spPr>
        <p:txBody>
          <a:bodyPr wrap="none" rtlCol="0">
            <a:spAutoFit/>
          </a:bodyPr>
          <a:lstStyle/>
          <a:p>
            <a:pPr algn="ctr"/>
            <a:r>
              <a:rPr lang="fr-FR" dirty="0" smtClean="0"/>
              <a:t>Modèle </a:t>
            </a:r>
          </a:p>
          <a:p>
            <a:pPr algn="ctr"/>
            <a:r>
              <a:rPr lang="fr-FR" dirty="0" smtClean="0"/>
              <a:t>a postériori</a:t>
            </a:r>
            <a:endParaRPr lang="fr-FR" dirty="0"/>
          </a:p>
        </p:txBody>
      </p:sp>
      <p:cxnSp>
        <p:nvCxnSpPr>
          <p:cNvPr id="14" name="Connecteur droit 13"/>
          <p:cNvCxnSpPr/>
          <p:nvPr/>
        </p:nvCxnSpPr>
        <p:spPr>
          <a:xfrm>
            <a:off x="2756737" y="2610814"/>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5" name="Connecteur droit 14"/>
          <p:cNvCxnSpPr/>
          <p:nvPr/>
        </p:nvCxnSpPr>
        <p:spPr>
          <a:xfrm>
            <a:off x="2756737" y="3698452"/>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6" name="Connecteur droit 15"/>
          <p:cNvCxnSpPr/>
          <p:nvPr/>
        </p:nvCxnSpPr>
        <p:spPr>
          <a:xfrm>
            <a:off x="2777300" y="4904225"/>
            <a:ext cx="64980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17" name="Connecteur droit 16"/>
          <p:cNvCxnSpPr/>
          <p:nvPr/>
        </p:nvCxnSpPr>
        <p:spPr>
          <a:xfrm>
            <a:off x="3406540" y="2610814"/>
            <a:ext cx="0" cy="2293411"/>
          </a:xfrm>
          <a:prstGeom prst="line">
            <a:avLst/>
          </a:prstGeom>
          <a:ln/>
        </p:spPr>
        <p:style>
          <a:lnRef idx="2">
            <a:schemeClr val="accent1"/>
          </a:lnRef>
          <a:fillRef idx="0">
            <a:schemeClr val="accent1"/>
          </a:fillRef>
          <a:effectRef idx="1">
            <a:schemeClr val="accent1"/>
          </a:effectRef>
          <a:fontRef idx="minor">
            <a:schemeClr val="tx1"/>
          </a:fontRef>
        </p:style>
      </p:cxnSp>
      <p:cxnSp>
        <p:nvCxnSpPr>
          <p:cNvPr id="18" name="Connecteur droit 17"/>
          <p:cNvCxnSpPr/>
          <p:nvPr/>
        </p:nvCxnSpPr>
        <p:spPr>
          <a:xfrm>
            <a:off x="3369189" y="3683877"/>
            <a:ext cx="856557" cy="14575"/>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6721373" y="3272397"/>
            <a:ext cx="1829231"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4" name="ZoneTexte 23"/>
          <p:cNvSpPr txBox="1"/>
          <p:nvPr/>
        </p:nvSpPr>
        <p:spPr>
          <a:xfrm>
            <a:off x="6721373" y="3390675"/>
            <a:ext cx="1841670" cy="615553"/>
          </a:xfrm>
          <a:prstGeom prst="rect">
            <a:avLst/>
          </a:prstGeom>
          <a:noFill/>
        </p:spPr>
        <p:txBody>
          <a:bodyPr wrap="none" rtlCol="0">
            <a:spAutoFit/>
          </a:bodyPr>
          <a:lstStyle/>
          <a:p>
            <a:pPr algn="ctr"/>
            <a:r>
              <a:rPr lang="fr-FR" sz="1600" dirty="0" smtClean="0"/>
              <a:t>Marges</a:t>
            </a:r>
          </a:p>
          <a:p>
            <a:pPr algn="ctr"/>
            <a:r>
              <a:rPr lang="fr-FR" sz="1600" dirty="0" smtClean="0"/>
              <a:t>pour l’estimation</a:t>
            </a:r>
            <a:r>
              <a:rPr lang="fr-FR" dirty="0" smtClean="0"/>
              <a:t> </a:t>
            </a:r>
            <a:endParaRPr lang="fr-FR" dirty="0"/>
          </a:p>
        </p:txBody>
      </p:sp>
      <p:sp>
        <p:nvSpPr>
          <p:cNvPr id="25" name="Cylindre 24"/>
          <p:cNvSpPr/>
          <p:nvPr/>
        </p:nvSpPr>
        <p:spPr>
          <a:xfrm>
            <a:off x="927506" y="5534663"/>
            <a:ext cx="1671703" cy="822960"/>
          </a:xfrm>
          <a:prstGeom prst="can">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6" name="ZoneTexte 25"/>
          <p:cNvSpPr txBox="1"/>
          <p:nvPr/>
        </p:nvSpPr>
        <p:spPr>
          <a:xfrm>
            <a:off x="927506" y="5751164"/>
            <a:ext cx="1702609" cy="584776"/>
          </a:xfrm>
          <a:prstGeom prst="rect">
            <a:avLst/>
          </a:prstGeom>
          <a:noFill/>
        </p:spPr>
        <p:txBody>
          <a:bodyPr wrap="none" rtlCol="0">
            <a:spAutoFit/>
          </a:bodyPr>
          <a:lstStyle/>
          <a:p>
            <a:r>
              <a:rPr lang="fr-FR" sz="1600" dirty="0" smtClean="0"/>
              <a:t>Base de projets</a:t>
            </a:r>
          </a:p>
          <a:p>
            <a:r>
              <a:rPr lang="fr-FR" sz="1600" dirty="0" smtClean="0"/>
              <a:t>(productivité)</a:t>
            </a:r>
            <a:endParaRPr lang="fr-FR" sz="1600" dirty="0"/>
          </a:p>
        </p:txBody>
      </p:sp>
      <p:cxnSp>
        <p:nvCxnSpPr>
          <p:cNvPr id="27" name="Connecteur droit 26"/>
          <p:cNvCxnSpPr>
            <a:stCxn id="26" idx="3"/>
          </p:cNvCxnSpPr>
          <p:nvPr/>
        </p:nvCxnSpPr>
        <p:spPr>
          <a:xfrm flipV="1">
            <a:off x="2630115" y="4403529"/>
            <a:ext cx="2502563" cy="1640023"/>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21433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2</a:t>
            </a:r>
            <a:endParaRPr lang="fr-FR" dirty="0"/>
          </a:p>
        </p:txBody>
      </p:sp>
      <p:sp>
        <p:nvSpPr>
          <p:cNvPr id="3" name="Espace réservé du contenu 2"/>
          <p:cNvSpPr>
            <a:spLocks noGrp="1"/>
          </p:cNvSpPr>
          <p:nvPr>
            <p:ph idx="1"/>
          </p:nvPr>
        </p:nvSpPr>
        <p:spPr/>
        <p:txBody>
          <a:bodyPr/>
          <a:lstStyle/>
          <a:p>
            <a:r>
              <a:rPr lang="fr-FR" dirty="0" smtClean="0">
                <a:latin typeface="Times New Roman"/>
                <a:cs typeface="Times New Roman"/>
              </a:rPr>
              <a:t>Utiliser ISBSG pour construire votre modèle de productivité</a:t>
            </a:r>
          </a:p>
          <a:p>
            <a:pPr lvl="1"/>
            <a:r>
              <a:rPr lang="fr-FR" dirty="0" smtClean="0">
                <a:latin typeface="Times New Roman"/>
                <a:cs typeface="Times New Roman"/>
              </a:rPr>
              <a:t>Quels projets pouvez-vous utiliser pour construire votre modèle de productivité?</a:t>
            </a:r>
          </a:p>
          <a:p>
            <a:pPr lvl="1"/>
            <a:r>
              <a:rPr lang="fr-FR" dirty="0" smtClean="0">
                <a:latin typeface="Times New Roman"/>
                <a:cs typeface="Times New Roman"/>
              </a:rPr>
              <a:t>Quel est votre confiance en ce qui concerne les résultats?</a:t>
            </a:r>
          </a:p>
          <a:p>
            <a:pPr lvl="1"/>
            <a:r>
              <a:rPr lang="fr-FR" dirty="0" smtClean="0">
                <a:latin typeface="Times New Roman"/>
                <a:cs typeface="Times New Roman"/>
              </a:rPr>
              <a:t>Quel est la marge d’erreur probable?</a:t>
            </a:r>
          </a:p>
          <a:p>
            <a:pPr lvl="1"/>
            <a:r>
              <a:rPr lang="fr-FR" dirty="0" smtClean="0">
                <a:latin typeface="Times New Roman"/>
                <a:cs typeface="Times New Roman"/>
              </a:rPr>
              <a:t>Comment pouvez-vous l’exprimer?</a:t>
            </a:r>
            <a:endParaRPr lang="fr-FR" dirty="0">
              <a:latin typeface="Times New Roman"/>
              <a:cs typeface="Times New Roman"/>
            </a:endParaRPr>
          </a:p>
        </p:txBody>
      </p:sp>
    </p:spTree>
    <p:extLst>
      <p:ext uri="{BB962C8B-B14F-4D97-AF65-F5344CB8AC3E}">
        <p14:creationId xmlns:p14="http://schemas.microsoft.com/office/powerpoint/2010/main" val="7706140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Ajustements</a:t>
            </a:r>
            <a:endParaRPr lang="fr-FR" dirty="0"/>
          </a:p>
        </p:txBody>
      </p:sp>
      <p:pic>
        <p:nvPicPr>
          <p:cNvPr id="4" name="Image 3"/>
          <p:cNvPicPr>
            <a:picLocks noChangeAspect="1"/>
          </p:cNvPicPr>
          <p:nvPr/>
        </p:nvPicPr>
        <p:blipFill>
          <a:blip r:embed="rId3"/>
          <a:stretch>
            <a:fillRect/>
          </a:stretch>
        </p:blipFill>
        <p:spPr>
          <a:xfrm>
            <a:off x="140161" y="3371042"/>
            <a:ext cx="4061080" cy="2261359"/>
          </a:xfrm>
          <a:prstGeom prst="rect">
            <a:avLst/>
          </a:prstGeom>
        </p:spPr>
      </p:pic>
      <p:sp>
        <p:nvSpPr>
          <p:cNvPr id="5" name="Rectangle 4"/>
          <p:cNvSpPr/>
          <p:nvPr/>
        </p:nvSpPr>
        <p:spPr>
          <a:xfrm>
            <a:off x="4914931" y="2138272"/>
            <a:ext cx="1917840" cy="1031691"/>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Rectangle 5"/>
          <p:cNvSpPr/>
          <p:nvPr/>
        </p:nvSpPr>
        <p:spPr>
          <a:xfrm>
            <a:off x="4914931" y="3678762"/>
            <a:ext cx="1917840" cy="82296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7" name="Nuage 6"/>
          <p:cNvSpPr/>
          <p:nvPr/>
        </p:nvSpPr>
        <p:spPr>
          <a:xfrm>
            <a:off x="7393964" y="3565741"/>
            <a:ext cx="1292836" cy="1179359"/>
          </a:xfrm>
          <a:prstGeom prst="cloud">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8" name="ZoneTexte 7"/>
          <p:cNvSpPr txBox="1"/>
          <p:nvPr/>
        </p:nvSpPr>
        <p:spPr>
          <a:xfrm>
            <a:off x="7463351" y="3763058"/>
            <a:ext cx="1152391" cy="738664"/>
          </a:xfrm>
          <a:prstGeom prst="rect">
            <a:avLst/>
          </a:prstGeom>
          <a:noFill/>
        </p:spPr>
        <p:txBody>
          <a:bodyPr wrap="none" rtlCol="0">
            <a:spAutoFit/>
          </a:bodyPr>
          <a:lstStyle/>
          <a:p>
            <a:r>
              <a:rPr lang="fr-FR" sz="1400" dirty="0" smtClean="0"/>
              <a:t>Valeur des </a:t>
            </a:r>
          </a:p>
          <a:p>
            <a:r>
              <a:rPr lang="fr-FR" sz="1400" dirty="0" smtClean="0"/>
              <a:t>estimations</a:t>
            </a:r>
          </a:p>
          <a:p>
            <a:r>
              <a:rPr lang="fr-FR" sz="1400" dirty="0" smtClean="0"/>
              <a:t>(marge)</a:t>
            </a:r>
            <a:endParaRPr lang="fr-FR" sz="1400" dirty="0"/>
          </a:p>
        </p:txBody>
      </p:sp>
      <p:sp>
        <p:nvSpPr>
          <p:cNvPr id="9" name="ZoneTexte 8"/>
          <p:cNvSpPr txBox="1"/>
          <p:nvPr/>
        </p:nvSpPr>
        <p:spPr>
          <a:xfrm>
            <a:off x="5061322" y="3799023"/>
            <a:ext cx="1518364" cy="584776"/>
          </a:xfrm>
          <a:prstGeom prst="rect">
            <a:avLst/>
          </a:prstGeom>
          <a:noFill/>
        </p:spPr>
        <p:txBody>
          <a:bodyPr wrap="none" rtlCol="0">
            <a:spAutoFit/>
          </a:bodyPr>
          <a:lstStyle/>
          <a:p>
            <a:r>
              <a:rPr lang="fr-FR" sz="1600" dirty="0" smtClean="0"/>
              <a:t>Processus </a:t>
            </a:r>
          </a:p>
          <a:p>
            <a:r>
              <a:rPr lang="fr-FR" sz="1600" dirty="0" smtClean="0"/>
              <a:t>d’ajustement</a:t>
            </a:r>
            <a:endParaRPr lang="fr-FR" sz="1600" dirty="0"/>
          </a:p>
        </p:txBody>
      </p:sp>
      <p:sp>
        <p:nvSpPr>
          <p:cNvPr id="10" name="ZoneTexte 9"/>
          <p:cNvSpPr txBox="1"/>
          <p:nvPr/>
        </p:nvSpPr>
        <p:spPr>
          <a:xfrm>
            <a:off x="5107496" y="2138273"/>
            <a:ext cx="1472190" cy="954107"/>
          </a:xfrm>
          <a:prstGeom prst="rect">
            <a:avLst/>
          </a:prstGeom>
          <a:noFill/>
        </p:spPr>
        <p:txBody>
          <a:bodyPr wrap="none" rtlCol="0">
            <a:spAutoFit/>
          </a:bodyPr>
          <a:lstStyle/>
          <a:p>
            <a:pPr algn="ctr"/>
            <a:r>
              <a:rPr lang="fr-FR" sz="1400" dirty="0" smtClean="0"/>
              <a:t>Hypothèses</a:t>
            </a:r>
          </a:p>
          <a:p>
            <a:pPr algn="ctr"/>
            <a:r>
              <a:rPr lang="fr-FR" sz="1400" dirty="0" smtClean="0"/>
              <a:t>risques et</a:t>
            </a:r>
          </a:p>
          <a:p>
            <a:pPr algn="ctr"/>
            <a:r>
              <a:rPr lang="fr-FR" sz="1400" dirty="0" smtClean="0"/>
              <a:t>autres facteurs</a:t>
            </a:r>
          </a:p>
          <a:p>
            <a:pPr algn="ctr"/>
            <a:r>
              <a:rPr lang="fr-FR" sz="1400" dirty="0" smtClean="0"/>
              <a:t>de coûts</a:t>
            </a:r>
            <a:endParaRPr lang="fr-FR" sz="1400" dirty="0"/>
          </a:p>
        </p:txBody>
      </p:sp>
      <p:cxnSp>
        <p:nvCxnSpPr>
          <p:cNvPr id="12" name="Connecteur droit avec flèche 11"/>
          <p:cNvCxnSpPr/>
          <p:nvPr/>
        </p:nvCxnSpPr>
        <p:spPr>
          <a:xfrm>
            <a:off x="4201241" y="4213492"/>
            <a:ext cx="71369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Connecteur en angle 18"/>
          <p:cNvCxnSpPr/>
          <p:nvPr/>
        </p:nvCxnSpPr>
        <p:spPr>
          <a:xfrm rot="5400000" flipH="1" flipV="1">
            <a:off x="4101717" y="3114785"/>
            <a:ext cx="1220732" cy="405696"/>
          </a:xfrm>
          <a:prstGeom prst="bentConnector3">
            <a:avLst>
              <a:gd name="adj1" fmla="val 101613"/>
            </a:avLst>
          </a:prstGeom>
        </p:spPr>
        <p:style>
          <a:lnRef idx="2">
            <a:schemeClr val="accent1"/>
          </a:lnRef>
          <a:fillRef idx="0">
            <a:schemeClr val="accent1"/>
          </a:fillRef>
          <a:effectRef idx="1">
            <a:schemeClr val="accent1"/>
          </a:effectRef>
          <a:fontRef idx="minor">
            <a:schemeClr val="tx1"/>
          </a:fontRef>
        </p:style>
      </p:cxnSp>
      <p:cxnSp>
        <p:nvCxnSpPr>
          <p:cNvPr id="22" name="Connecteur droit 21"/>
          <p:cNvCxnSpPr/>
          <p:nvPr/>
        </p:nvCxnSpPr>
        <p:spPr>
          <a:xfrm>
            <a:off x="4509235" y="3927999"/>
            <a:ext cx="405696"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25" name="Connecteur droit 24"/>
          <p:cNvCxnSpPr/>
          <p:nvPr/>
        </p:nvCxnSpPr>
        <p:spPr>
          <a:xfrm>
            <a:off x="6832771" y="4132390"/>
            <a:ext cx="561193" cy="0"/>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23203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3</a:t>
            </a:r>
            <a:endParaRPr lang="fr-FR" dirty="0"/>
          </a:p>
        </p:txBody>
      </p:sp>
      <p:sp>
        <p:nvSpPr>
          <p:cNvPr id="3" name="Espace réservé du contenu 2"/>
          <p:cNvSpPr>
            <a:spLocks noGrp="1"/>
          </p:cNvSpPr>
          <p:nvPr>
            <p:ph idx="1"/>
          </p:nvPr>
        </p:nvSpPr>
        <p:spPr/>
        <p:txBody>
          <a:bodyPr>
            <a:normAutofit fontScale="92500"/>
          </a:bodyPr>
          <a:lstStyle/>
          <a:p>
            <a:r>
              <a:rPr lang="fr-FR" dirty="0" smtClean="0"/>
              <a:t>Identifiez vos hypothèses pour la réalisation du </a:t>
            </a:r>
            <a:r>
              <a:rPr lang="fr-FR" dirty="0" smtClean="0"/>
              <a:t>projet</a:t>
            </a:r>
          </a:p>
          <a:p>
            <a:r>
              <a:rPr lang="fr-FR" dirty="0" smtClean="0"/>
              <a:t>Identifiez les facteurs de productivité et non productivité (expérience </a:t>
            </a:r>
            <a:r>
              <a:rPr lang="fr-FR" smtClean="0"/>
              <a:t>de l’équipe, environnement, etc.)</a:t>
            </a:r>
            <a:endParaRPr lang="fr-FR" dirty="0" smtClean="0"/>
          </a:p>
          <a:p>
            <a:r>
              <a:rPr lang="fr-FR" dirty="0" smtClean="0"/>
              <a:t>Identifiez les risques</a:t>
            </a:r>
          </a:p>
          <a:p>
            <a:r>
              <a:rPr lang="fr-FR" dirty="0" smtClean="0"/>
              <a:t>Mitigation des risques</a:t>
            </a:r>
          </a:p>
          <a:p>
            <a:r>
              <a:rPr lang="fr-FR" dirty="0" smtClean="0"/>
              <a:t>Identification des autres facteurs de coûts (peuvent provenir des risques)</a:t>
            </a:r>
          </a:p>
          <a:p>
            <a:r>
              <a:rPr lang="fr-FR" dirty="0" smtClean="0"/>
              <a:t>identifier vos marges d’estimation (ex. coût unitaire minimum, moyen et maximum).  Peut aussi s’appliquer à la taille des exigences si incertain.</a:t>
            </a:r>
          </a:p>
          <a:p>
            <a:endParaRPr lang="fr-FR" dirty="0"/>
          </a:p>
        </p:txBody>
      </p:sp>
    </p:spTree>
    <p:extLst>
      <p:ext uri="{BB962C8B-B14F-4D97-AF65-F5344CB8AC3E}">
        <p14:creationId xmlns:p14="http://schemas.microsoft.com/office/powerpoint/2010/main" val="38294558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Décision de budgétisation</a:t>
            </a:r>
            <a:endParaRPr lang="fr-FR" dirty="0"/>
          </a:p>
        </p:txBody>
      </p:sp>
      <p:pic>
        <p:nvPicPr>
          <p:cNvPr id="4" name="Image 3"/>
          <p:cNvPicPr>
            <a:picLocks noChangeAspect="1"/>
          </p:cNvPicPr>
          <p:nvPr/>
        </p:nvPicPr>
        <p:blipFill>
          <a:blip r:embed="rId2"/>
          <a:stretch>
            <a:fillRect/>
          </a:stretch>
        </p:blipFill>
        <p:spPr>
          <a:xfrm>
            <a:off x="279400" y="3033120"/>
            <a:ext cx="7153946" cy="2952591"/>
          </a:xfrm>
          <a:prstGeom prst="rect">
            <a:avLst/>
          </a:prstGeom>
        </p:spPr>
      </p:pic>
      <p:sp>
        <p:nvSpPr>
          <p:cNvPr id="5" name="Nuage 4"/>
          <p:cNvSpPr/>
          <p:nvPr/>
        </p:nvSpPr>
        <p:spPr>
          <a:xfrm>
            <a:off x="7765827" y="1899618"/>
            <a:ext cx="1169583" cy="1110447"/>
          </a:xfrm>
          <a:prstGeom prst="cloud">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 name="ZoneTexte 5"/>
          <p:cNvSpPr txBox="1"/>
          <p:nvPr/>
        </p:nvSpPr>
        <p:spPr>
          <a:xfrm>
            <a:off x="7808650" y="2133895"/>
            <a:ext cx="1122022" cy="584776"/>
          </a:xfrm>
          <a:prstGeom prst="rect">
            <a:avLst/>
          </a:prstGeom>
          <a:noFill/>
        </p:spPr>
        <p:txBody>
          <a:bodyPr wrap="none" rtlCol="0">
            <a:spAutoFit/>
          </a:bodyPr>
          <a:lstStyle/>
          <a:p>
            <a:r>
              <a:rPr lang="fr-FR" sz="1600" dirty="0" smtClean="0"/>
              <a:t>Risque </a:t>
            </a:r>
          </a:p>
          <a:p>
            <a:r>
              <a:rPr lang="fr-FR" sz="1600" dirty="0" smtClean="0"/>
              <a:t>d’affaires</a:t>
            </a:r>
            <a:endParaRPr lang="fr-FR" sz="1600" dirty="0"/>
          </a:p>
        </p:txBody>
      </p:sp>
      <p:sp>
        <p:nvSpPr>
          <p:cNvPr id="7" name="Sourire 6"/>
          <p:cNvSpPr/>
          <p:nvPr/>
        </p:nvSpPr>
        <p:spPr>
          <a:xfrm>
            <a:off x="7789814" y="3526363"/>
            <a:ext cx="822960" cy="822960"/>
          </a:xfrm>
          <a:prstGeom prst="smileyFace">
            <a:avLst/>
          </a:prstGeom>
          <a:gradFill>
            <a:gsLst>
              <a:gs pos="0">
                <a:schemeClr val="bg1">
                  <a:lumMod val="85000"/>
                </a:schemeClr>
              </a:gs>
              <a:gs pos="25000">
                <a:schemeClr val="accent1">
                  <a:tint val="96000"/>
                  <a:shade val="80000"/>
                  <a:satMod val="105000"/>
                </a:schemeClr>
              </a:gs>
              <a:gs pos="38000">
                <a:schemeClr val="accent1">
                  <a:tint val="96000"/>
                  <a:shade val="59000"/>
                  <a:satMod val="120000"/>
                </a:schemeClr>
              </a:gs>
              <a:gs pos="55000">
                <a:schemeClr val="accent1">
                  <a:tint val="100000"/>
                  <a:shade val="57000"/>
                  <a:satMod val="120000"/>
                </a:schemeClr>
              </a:gs>
              <a:gs pos="80000">
                <a:schemeClr val="accent1">
                  <a:tint val="100000"/>
                  <a:shade val="56000"/>
                  <a:satMod val="145000"/>
                </a:schemeClr>
              </a:gs>
              <a:gs pos="88000">
                <a:schemeClr val="accent1">
                  <a:tint val="100000"/>
                  <a:shade val="63000"/>
                  <a:satMod val="160000"/>
                </a:schemeClr>
              </a:gs>
              <a:gs pos="100000">
                <a:schemeClr val="accent1">
                  <a:tint val="99000"/>
                  <a:shade val="100000"/>
                  <a:satMod val="155000"/>
                </a:schemeClr>
              </a:gs>
            </a:gsLst>
          </a:gra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9" name="ZoneTexte 8"/>
          <p:cNvSpPr txBox="1"/>
          <p:nvPr/>
        </p:nvSpPr>
        <p:spPr>
          <a:xfrm>
            <a:off x="6301114" y="2740732"/>
            <a:ext cx="915635" cy="584776"/>
          </a:xfrm>
          <a:prstGeom prst="rect">
            <a:avLst/>
          </a:prstGeom>
          <a:noFill/>
        </p:spPr>
        <p:txBody>
          <a:bodyPr wrap="none" rtlCol="0">
            <a:spAutoFit/>
          </a:bodyPr>
          <a:lstStyle/>
          <a:p>
            <a:r>
              <a:rPr lang="fr-FR" sz="1600" dirty="0" smtClean="0"/>
              <a:t>Budget </a:t>
            </a:r>
          </a:p>
          <a:p>
            <a:r>
              <a:rPr lang="fr-FR" sz="1600" dirty="0" smtClean="0"/>
              <a:t>unique</a:t>
            </a:r>
            <a:endParaRPr lang="fr-FR" sz="1600" dirty="0"/>
          </a:p>
        </p:txBody>
      </p:sp>
      <p:sp>
        <p:nvSpPr>
          <p:cNvPr id="10" name="Croix 9"/>
          <p:cNvSpPr/>
          <p:nvPr/>
        </p:nvSpPr>
        <p:spPr>
          <a:xfrm>
            <a:off x="7564778" y="4953831"/>
            <a:ext cx="1304958" cy="822960"/>
          </a:xfrm>
          <a:prstGeom prst="plus">
            <a:avLst/>
          </a:prstGeom>
          <a:no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ZoneTexte 11"/>
          <p:cNvSpPr txBox="1"/>
          <p:nvPr/>
        </p:nvSpPr>
        <p:spPr>
          <a:xfrm>
            <a:off x="7521955" y="5186190"/>
            <a:ext cx="1413455" cy="307777"/>
          </a:xfrm>
          <a:prstGeom prst="rect">
            <a:avLst/>
          </a:prstGeom>
          <a:noFill/>
        </p:spPr>
        <p:txBody>
          <a:bodyPr wrap="none" rtlCol="0">
            <a:spAutoFit/>
          </a:bodyPr>
          <a:lstStyle/>
          <a:p>
            <a:r>
              <a:rPr lang="fr-FR" sz="1400" dirty="0" smtClean="0"/>
              <a:t>Contingences</a:t>
            </a:r>
            <a:endParaRPr lang="fr-FR" sz="1400" dirty="0"/>
          </a:p>
        </p:txBody>
      </p:sp>
      <p:sp>
        <p:nvSpPr>
          <p:cNvPr id="13" name="Étoile à 6 branches 12"/>
          <p:cNvSpPr/>
          <p:nvPr/>
        </p:nvSpPr>
        <p:spPr>
          <a:xfrm>
            <a:off x="6214540" y="2457909"/>
            <a:ext cx="1090818" cy="1080238"/>
          </a:xfrm>
          <a:prstGeom prst="star6">
            <a:avLst/>
          </a:prstGeom>
          <a:noFill/>
          <a:ln/>
        </p:spPr>
        <p:style>
          <a:lnRef idx="1">
            <a:schemeClr val="accent1"/>
          </a:lnRef>
          <a:fillRef idx="3">
            <a:schemeClr val="accent1"/>
          </a:fillRef>
          <a:effectRef idx="2">
            <a:schemeClr val="accent1"/>
          </a:effectRef>
          <a:fontRef idx="minor">
            <a:schemeClr val="lt1"/>
          </a:fontRef>
        </p:style>
        <p:txBody>
          <a:bodyPr/>
          <a:lstStyle/>
          <a:p>
            <a:endParaRPr lang="fr-FR"/>
          </a:p>
        </p:txBody>
      </p:sp>
      <p:cxnSp>
        <p:nvCxnSpPr>
          <p:cNvPr id="16" name="Connecteur droit avec flèche 15"/>
          <p:cNvCxnSpPr/>
          <p:nvPr/>
        </p:nvCxnSpPr>
        <p:spPr>
          <a:xfrm flipH="1" flipV="1">
            <a:off x="7216749" y="3248721"/>
            <a:ext cx="694821" cy="47494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1" name="Connecteur droit 20"/>
          <p:cNvCxnSpPr/>
          <p:nvPr/>
        </p:nvCxnSpPr>
        <p:spPr>
          <a:xfrm>
            <a:off x="8232861" y="4363230"/>
            <a:ext cx="0" cy="590601"/>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26" name="Connecteur droit avec flèche 25"/>
          <p:cNvCxnSpPr>
            <a:endCxn id="7" idx="0"/>
          </p:cNvCxnSpPr>
          <p:nvPr/>
        </p:nvCxnSpPr>
        <p:spPr>
          <a:xfrm flipH="1">
            <a:off x="8201294" y="2994309"/>
            <a:ext cx="118147" cy="53205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76909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Exercice </a:t>
            </a:r>
            <a:endParaRPr lang="fr-FR" dirty="0"/>
          </a:p>
        </p:txBody>
      </p:sp>
      <p:sp>
        <p:nvSpPr>
          <p:cNvPr id="3" name="Espace réservé du contenu 2"/>
          <p:cNvSpPr>
            <a:spLocks noGrp="1"/>
          </p:cNvSpPr>
          <p:nvPr>
            <p:ph idx="1"/>
          </p:nvPr>
        </p:nvSpPr>
        <p:spPr/>
        <p:txBody>
          <a:bodyPr/>
          <a:lstStyle/>
          <a:p>
            <a:r>
              <a:rPr lang="fr-FR" dirty="0" smtClean="0">
                <a:latin typeface="Times New Roman"/>
                <a:cs typeface="Times New Roman"/>
              </a:rPr>
              <a:t>Quelle différence y a t’il entre l’estimation et la budgétisation?</a:t>
            </a:r>
          </a:p>
          <a:p>
            <a:r>
              <a:rPr lang="fr-FR" dirty="0" smtClean="0">
                <a:latin typeface="Times New Roman"/>
                <a:cs typeface="Times New Roman"/>
              </a:rPr>
              <a:t>Qui décide du budget?</a:t>
            </a:r>
            <a:endParaRPr lang="fr-FR" dirty="0">
              <a:latin typeface="Times New Roman"/>
              <a:cs typeface="Times New Roman"/>
            </a:endParaRPr>
          </a:p>
        </p:txBody>
      </p:sp>
    </p:spTree>
    <p:extLst>
      <p:ext uri="{BB962C8B-B14F-4D97-AF65-F5344CB8AC3E}">
        <p14:creationId xmlns:p14="http://schemas.microsoft.com/office/powerpoint/2010/main" val="12649362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p:cNvPicPr>
            <a:picLocks noChangeAspect="1"/>
          </p:cNvPicPr>
          <p:nvPr/>
        </p:nvPicPr>
        <p:blipFill>
          <a:blip r:embed="rId2"/>
          <a:stretch>
            <a:fillRect/>
          </a:stretch>
        </p:blipFill>
        <p:spPr>
          <a:xfrm>
            <a:off x="238668" y="1693616"/>
            <a:ext cx="8699500" cy="4140200"/>
          </a:xfrm>
          <a:prstGeom prst="rect">
            <a:avLst/>
          </a:prstGeom>
        </p:spPr>
      </p:pic>
      <p:sp>
        <p:nvSpPr>
          <p:cNvPr id="2" name="Titre 1"/>
          <p:cNvSpPr>
            <a:spLocks noGrp="1"/>
          </p:cNvSpPr>
          <p:nvPr>
            <p:ph type="title"/>
          </p:nvPr>
        </p:nvSpPr>
        <p:spPr/>
        <p:txBody>
          <a:bodyPr/>
          <a:lstStyle/>
          <a:p>
            <a:r>
              <a:rPr lang="fr-FR" dirty="0" smtClean="0"/>
              <a:t>Ré-estimation</a:t>
            </a:r>
            <a:endParaRPr lang="fr-FR" dirty="0"/>
          </a:p>
        </p:txBody>
      </p:sp>
      <p:sp>
        <p:nvSpPr>
          <p:cNvPr id="9" name="Croix 8"/>
          <p:cNvSpPr/>
          <p:nvPr/>
        </p:nvSpPr>
        <p:spPr>
          <a:xfrm>
            <a:off x="7567536" y="4566200"/>
            <a:ext cx="1304958" cy="822960"/>
          </a:xfrm>
          <a:prstGeom prst="plus">
            <a:avLst/>
          </a:prstGeom>
          <a:solidFill>
            <a:schemeClr val="bg1">
              <a:lumMod val="75000"/>
            </a:schemeClr>
          </a:solidFill>
          <a:ln/>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ZoneTexte 9"/>
          <p:cNvSpPr txBox="1"/>
          <p:nvPr/>
        </p:nvSpPr>
        <p:spPr>
          <a:xfrm>
            <a:off x="7524713" y="4798559"/>
            <a:ext cx="1413455" cy="307777"/>
          </a:xfrm>
          <a:prstGeom prst="rect">
            <a:avLst/>
          </a:prstGeom>
          <a:noFill/>
        </p:spPr>
        <p:txBody>
          <a:bodyPr wrap="none" rtlCol="0">
            <a:spAutoFit/>
          </a:bodyPr>
          <a:lstStyle/>
          <a:p>
            <a:r>
              <a:rPr lang="fr-FR" sz="1400" dirty="0" smtClean="0"/>
              <a:t>Contingences</a:t>
            </a:r>
            <a:endParaRPr lang="fr-FR" sz="1400" dirty="0"/>
          </a:p>
        </p:txBody>
      </p:sp>
      <p:cxnSp>
        <p:nvCxnSpPr>
          <p:cNvPr id="17" name="Connecteur droit 16"/>
          <p:cNvCxnSpPr/>
          <p:nvPr/>
        </p:nvCxnSpPr>
        <p:spPr>
          <a:xfrm>
            <a:off x="8134406" y="4207958"/>
            <a:ext cx="0" cy="358242"/>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239832" y="5599650"/>
            <a:ext cx="1602784" cy="61821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r>
              <a:rPr lang="fr-FR" sz="1400" dirty="0" smtClean="0">
                <a:solidFill>
                  <a:schemeClr val="tx1"/>
                </a:solidFill>
              </a:rPr>
              <a:t>Suivi et contrôle du projet</a:t>
            </a:r>
            <a:endParaRPr lang="fr-FR" sz="1400" dirty="0">
              <a:solidFill>
                <a:schemeClr val="tx1"/>
              </a:solidFill>
            </a:endParaRPr>
          </a:p>
        </p:txBody>
      </p:sp>
      <p:sp>
        <p:nvSpPr>
          <p:cNvPr id="20" name="Rectangle 19"/>
          <p:cNvSpPr/>
          <p:nvPr/>
        </p:nvSpPr>
        <p:spPr>
          <a:xfrm>
            <a:off x="3216378" y="5380121"/>
            <a:ext cx="1602784" cy="618217"/>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lstStyle/>
          <a:p>
            <a:r>
              <a:rPr lang="fr-FR" sz="1400" dirty="0" smtClean="0">
                <a:solidFill>
                  <a:schemeClr val="tx1"/>
                </a:solidFill>
              </a:rPr>
              <a:t>Ré-estimation</a:t>
            </a:r>
            <a:endParaRPr lang="fr-FR" sz="1400" dirty="0">
              <a:solidFill>
                <a:schemeClr val="tx1"/>
              </a:solidFill>
            </a:endParaRPr>
          </a:p>
        </p:txBody>
      </p:sp>
      <p:cxnSp>
        <p:nvCxnSpPr>
          <p:cNvPr id="22" name="Connecteur droit avec flèche 21"/>
          <p:cNvCxnSpPr/>
          <p:nvPr/>
        </p:nvCxnSpPr>
        <p:spPr>
          <a:xfrm flipV="1">
            <a:off x="4371398" y="4912459"/>
            <a:ext cx="447764" cy="46766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Connecteur en angle 23"/>
          <p:cNvCxnSpPr/>
          <p:nvPr/>
        </p:nvCxnSpPr>
        <p:spPr>
          <a:xfrm rot="10800000">
            <a:off x="4819162" y="5833819"/>
            <a:ext cx="420670" cy="182901"/>
          </a:xfrm>
          <a:prstGeom prst="bentConnector3">
            <a:avLst/>
          </a:prstGeom>
          <a:ln>
            <a:tailEnd type="triangle" w="lg"/>
          </a:ln>
        </p:spPr>
        <p:style>
          <a:lnRef idx="2">
            <a:schemeClr val="accent1"/>
          </a:lnRef>
          <a:fillRef idx="0">
            <a:schemeClr val="accent1"/>
          </a:fillRef>
          <a:effectRef idx="1">
            <a:schemeClr val="accent1"/>
          </a:effectRef>
          <a:fontRef idx="minor">
            <a:schemeClr val="tx1"/>
          </a:fontRef>
        </p:style>
      </p:cxnSp>
      <p:cxnSp>
        <p:nvCxnSpPr>
          <p:cNvPr id="32" name="Connecteur en angle 31"/>
          <p:cNvCxnSpPr/>
          <p:nvPr/>
        </p:nvCxnSpPr>
        <p:spPr>
          <a:xfrm rot="10800000" flipV="1">
            <a:off x="3938199" y="5389159"/>
            <a:ext cx="4410778" cy="1137815"/>
          </a:xfrm>
          <a:prstGeom prst="bentConnector3">
            <a:avLst>
              <a:gd name="adj1" fmla="val -223"/>
            </a:avLst>
          </a:prstGeom>
        </p:spPr>
        <p:style>
          <a:lnRef idx="2">
            <a:schemeClr val="accent1"/>
          </a:lnRef>
          <a:fillRef idx="0">
            <a:schemeClr val="accent1"/>
          </a:fillRef>
          <a:effectRef idx="1">
            <a:schemeClr val="accent1"/>
          </a:effectRef>
          <a:fontRef idx="minor">
            <a:schemeClr val="tx1"/>
          </a:fontRef>
        </p:style>
      </p:cxnSp>
      <p:cxnSp>
        <p:nvCxnSpPr>
          <p:cNvPr id="36" name="Connecteur droit 35"/>
          <p:cNvCxnSpPr/>
          <p:nvPr/>
        </p:nvCxnSpPr>
        <p:spPr>
          <a:xfrm flipH="1" flipV="1">
            <a:off x="3923928" y="6021288"/>
            <a:ext cx="14270" cy="505688"/>
          </a:xfrm>
          <a:prstGeom prst="line">
            <a:avLst/>
          </a:prstGeom>
          <a:ln>
            <a:tailEnd type="triangle" w="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35945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Amélioration</a:t>
            </a:r>
            <a:endParaRPr lang="fr-FR" dirty="0"/>
          </a:p>
        </p:txBody>
      </p:sp>
      <p:sp>
        <p:nvSpPr>
          <p:cNvPr id="3" name="Espace réservé du contenu 2"/>
          <p:cNvSpPr>
            <a:spLocks noGrp="1"/>
          </p:cNvSpPr>
          <p:nvPr>
            <p:ph idx="1"/>
          </p:nvPr>
        </p:nvSpPr>
        <p:spPr/>
        <p:txBody>
          <a:bodyPr/>
          <a:lstStyle/>
          <a:p>
            <a:r>
              <a:rPr lang="fr-FR" dirty="0" smtClean="0"/>
              <a:t>Pour l’amélioration il faut ajouter:</a:t>
            </a:r>
          </a:p>
          <a:p>
            <a:pPr lvl="1"/>
            <a:r>
              <a:rPr lang="fr-FR" dirty="0" smtClean="0"/>
              <a:t>un processus d’amélioration des estimations suite à la ré-estimation</a:t>
            </a:r>
          </a:p>
          <a:p>
            <a:pPr lvl="1"/>
            <a:r>
              <a:rPr lang="fr-FR" dirty="0" smtClean="0"/>
              <a:t>Ajouter une base de données pour les estimations (construction de l’expérience des estimations)</a:t>
            </a:r>
            <a:endParaRPr lang="fr-FR" dirty="0"/>
          </a:p>
        </p:txBody>
      </p:sp>
    </p:spTree>
    <p:extLst>
      <p:ext uri="{BB962C8B-B14F-4D97-AF65-F5344CB8AC3E}">
        <p14:creationId xmlns:p14="http://schemas.microsoft.com/office/powerpoint/2010/main" val="9096013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Rôles et responsabilités</a:t>
            </a:r>
            <a:endParaRPr lang="fr-FR" dirty="0"/>
          </a:p>
        </p:txBody>
      </p:sp>
      <p:sp>
        <p:nvSpPr>
          <p:cNvPr id="3" name="Espace réservé du contenu 2"/>
          <p:cNvSpPr>
            <a:spLocks noGrp="1"/>
          </p:cNvSpPr>
          <p:nvPr>
            <p:ph idx="1"/>
          </p:nvPr>
        </p:nvSpPr>
        <p:spPr/>
        <p:txBody>
          <a:bodyPr>
            <a:normAutofit fontScale="92500" lnSpcReduction="10000"/>
          </a:bodyPr>
          <a:lstStyle/>
          <a:p>
            <a:r>
              <a:rPr lang="fr-FR" dirty="0" smtClean="0"/>
              <a:t>Estimateur</a:t>
            </a:r>
          </a:p>
          <a:p>
            <a:pPr lvl="1"/>
            <a:r>
              <a:rPr lang="fr-FR" dirty="0" smtClean="0"/>
              <a:t>Construire le modèle de productivité</a:t>
            </a:r>
          </a:p>
          <a:p>
            <a:pPr lvl="1"/>
            <a:r>
              <a:rPr lang="fr-FR" dirty="0" smtClean="0"/>
              <a:t>Réaliser les trois premières étapes du processus d’estimation (collecter et documenter les inputs, exécuter le modèle de productivité, ajuster)</a:t>
            </a:r>
          </a:p>
          <a:p>
            <a:r>
              <a:rPr lang="fr-FR" dirty="0" smtClean="0"/>
              <a:t>Gestionnaire</a:t>
            </a:r>
          </a:p>
          <a:p>
            <a:pPr lvl="1"/>
            <a:r>
              <a:rPr lang="fr-FR" dirty="0" smtClean="0"/>
              <a:t>prendre les décisions budgétaire en tenant compte des informations disponibles</a:t>
            </a:r>
          </a:p>
          <a:p>
            <a:pPr lvl="1"/>
            <a:r>
              <a:rPr lang="fr-FR" dirty="0" smtClean="0"/>
              <a:t>ces informations ne proviennent pas nécessairement d’une seule source (ex. </a:t>
            </a:r>
            <a:r>
              <a:rPr lang="fr-FR" dirty="0" smtClean="0"/>
              <a:t>estimateur).  </a:t>
            </a:r>
            <a:r>
              <a:rPr lang="fr-FR" dirty="0" smtClean="0"/>
              <a:t>Doit aussi tenir compte du portfolio des </a:t>
            </a:r>
            <a:r>
              <a:rPr lang="fr-FR" dirty="0" smtClean="0"/>
              <a:t>projets, entre autre.</a:t>
            </a:r>
            <a:endParaRPr lang="fr-FR" dirty="0" smtClean="0"/>
          </a:p>
          <a:p>
            <a:pPr lvl="1"/>
            <a:r>
              <a:rPr lang="fr-FR" dirty="0" smtClean="0"/>
              <a:t>il a aussi la responsabilité d’implanter un processus d’estimation tel que décrit ici</a:t>
            </a:r>
          </a:p>
          <a:p>
            <a:pPr lvl="1"/>
            <a:r>
              <a:rPr lang="fr-FR" dirty="0" smtClean="0"/>
              <a:t>il doit tenir compte des risques et voir comment les mitiger</a:t>
            </a:r>
          </a:p>
          <a:p>
            <a:pPr lvl="1"/>
            <a:endParaRPr lang="fr-FR" dirty="0"/>
          </a:p>
        </p:txBody>
      </p:sp>
    </p:spTree>
    <p:extLst>
      <p:ext uri="{BB962C8B-B14F-4D97-AF65-F5344CB8AC3E}">
        <p14:creationId xmlns:p14="http://schemas.microsoft.com/office/powerpoint/2010/main" val="6680734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icaire">
  <a:themeElements>
    <a:clrScheme name="Apothicaire">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icaire">
      <a:majorFont>
        <a:latin typeface="Book Antiqua"/>
        <a:ea typeface=""/>
        <a:cs typeface=""/>
        <a:font script="Jpan" typeface="ＭＳ Ｐ明朝"/>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icaire">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Apothicaire.thmx</Template>
  <TotalTime>422</TotalTime>
  <Words>1699</Words>
  <Application>Microsoft Macintosh PowerPoint</Application>
  <PresentationFormat>Présentation à l'écran (4:3)</PresentationFormat>
  <Paragraphs>221</Paragraphs>
  <Slides>29</Slides>
  <Notes>9</Notes>
  <HiddenSlides>2</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29</vt:i4>
      </vt:variant>
    </vt:vector>
  </HeadingPairs>
  <TitlesOfParts>
    <vt:vector size="35" baseType="lpstr">
      <vt:lpstr>Arial</vt:lpstr>
      <vt:lpstr>Book Antiqua</vt:lpstr>
      <vt:lpstr>Calibri</vt:lpstr>
      <vt:lpstr>Century Gothic</vt:lpstr>
      <vt:lpstr>Times New Roman</vt:lpstr>
      <vt:lpstr>Apothicaire</vt:lpstr>
      <vt:lpstr>Processus de décision pour la budgétisation d'un projet et ré-estimation </vt:lpstr>
      <vt:lpstr>Plan de la présentation</vt:lpstr>
      <vt:lpstr>Introduction</vt:lpstr>
      <vt:lpstr>Techniques basées sur le jugement</vt:lpstr>
      <vt:lpstr>Processus d’ingénierie pour L’estimation</vt:lpstr>
      <vt:lpstr>Pratiques pauvres</vt:lpstr>
      <vt:lpstr>Résultats des estimations</vt:lpstr>
      <vt:lpstr>Modèles de productivité</vt:lpstr>
      <vt:lpstr>Incertitude du modèle de productivité (exemple)</vt:lpstr>
      <vt:lpstr>Incertitude du modèle quantifié</vt:lpstr>
      <vt:lpstr>Réduire l’incertitude (1)</vt:lpstr>
      <vt:lpstr>Réduire l’incertitude (2)</vt:lpstr>
      <vt:lpstr>Pourquoi plus productif</vt:lpstr>
      <vt:lpstr>Pourquoi moins productif</vt:lpstr>
      <vt:lpstr>Modèle de productivité</vt:lpstr>
      <vt:lpstr>Contexte du modèle de productivité</vt:lpstr>
      <vt:lpstr>Exemples</vt:lpstr>
      <vt:lpstr>Modèle d’estimation</vt:lpstr>
      <vt:lpstr>Collection des inputs</vt:lpstr>
      <vt:lpstr>Exercice 1</vt:lpstr>
      <vt:lpstr>Exécution du modèle de productivité</vt:lpstr>
      <vt:lpstr>Exercice 2</vt:lpstr>
      <vt:lpstr>Ajustements</vt:lpstr>
      <vt:lpstr>Exercice 3</vt:lpstr>
      <vt:lpstr>Décision de budgétisation</vt:lpstr>
      <vt:lpstr>Exercice </vt:lpstr>
      <vt:lpstr>Ré-estimation</vt:lpstr>
      <vt:lpstr>Amélioration</vt:lpstr>
      <vt:lpstr>Rôles et responsabilités</vt:lpstr>
    </vt:vector>
  </TitlesOfParts>
  <Company>ÉTS</Company>
  <LinksUpToDate>false</LinksUpToDate>
  <SharedDoc>false</SharedDoc>
  <HyperlinksChanged>false</HyperlinksChanged>
  <AppVersion>15.0022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Processus de décision pour la budgétisation d'un projet et ré-estimation </dc:title>
  <dc:creator>Jean-Marc Desharnais</dc:creator>
  <cp:lastModifiedBy>Jean-Marc Desharnais</cp:lastModifiedBy>
  <cp:revision>43</cp:revision>
  <dcterms:created xsi:type="dcterms:W3CDTF">2015-04-02T16:30:50Z</dcterms:created>
  <dcterms:modified xsi:type="dcterms:W3CDTF">2016-06-16T14:39:51Z</dcterms:modified>
</cp:coreProperties>
</file>